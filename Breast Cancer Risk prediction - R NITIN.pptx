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7" r:id="rId5"/>
    <p:sldId id="292" r:id="rId6"/>
    <p:sldId id="275" r:id="rId7"/>
    <p:sldId id="276" r:id="rId8"/>
    <p:sldId id="256" r:id="rId9"/>
    <p:sldId id="312" r:id="rId10"/>
    <p:sldId id="313" r:id="rId11"/>
    <p:sldId id="314" r:id="rId12"/>
    <p:sldId id="315" r:id="rId13"/>
    <p:sldId id="316" r:id="rId14"/>
    <p:sldId id="317" r:id="rId15"/>
    <p:sldId id="319" r:id="rId16"/>
    <p:sldId id="321" r:id="rId17"/>
    <p:sldId id="322" r:id="rId18"/>
    <p:sldId id="323" r:id="rId19"/>
    <p:sldId id="303"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107A4C-7D16-41C3-BD78-400B0E3CFBD5}" v="249" dt="2025-01-31T13:02:14.36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34"/>
  </p:normalViewPr>
  <p:slideViewPr>
    <p:cSldViewPr snapToGrid="0" showGuides="1">
      <p:cViewPr varScale="1">
        <p:scale>
          <a:sx n="85" d="100"/>
          <a:sy n="85" d="100"/>
        </p:scale>
        <p:origin x="518" y="67"/>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2/1/2025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2/1/2025</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5688E-AB59-8DAE-2884-E5EF629A4270}"/>
              </a:ext>
            </a:extLst>
          </p:cNvPr>
          <p:cNvSpPr>
            <a:spLocks noGrp="1"/>
          </p:cNvSpPr>
          <p:nvPr>
            <p:ph type="dt" sz="half" idx="10"/>
          </p:nvPr>
        </p:nvSpPr>
        <p:spPr/>
        <p:txBody>
          <a:bodyPr/>
          <a:lstStyle/>
          <a:p>
            <a:fld id="{DE3951B7-5837-40D7-A284-C287FC16DA88}" type="datetimeFigureOut">
              <a:rPr lang="en-IN" smtClean="0"/>
              <a:t>01-02-2025</a:t>
            </a:fld>
            <a:endParaRPr lang="en-IN"/>
          </a:p>
        </p:txBody>
      </p:sp>
      <p:sp>
        <p:nvSpPr>
          <p:cNvPr id="3" name="Footer Placeholder 2">
            <a:extLst>
              <a:ext uri="{FF2B5EF4-FFF2-40B4-BE49-F238E27FC236}">
                <a16:creationId xmlns:a16="http://schemas.microsoft.com/office/drawing/2014/main" id="{041768F9-268D-1E21-05D9-7901D4E1F1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8CE354-DFC3-EA2B-05DA-B7154B671742}"/>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61064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2670665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 id="2147483669" r:id="rId17"/>
    <p:sldLayoutId id="2147483670" r:id="rId18"/>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F61CB4-EFD8-4FB2-AC1D-5731103B6470}"/>
              </a:ext>
            </a:extLst>
          </p:cNvPr>
          <p:cNvPicPr>
            <a:picLocks noChangeAspect="1"/>
          </p:cNvPicPr>
          <p:nvPr/>
        </p:nvPicPr>
        <p:blipFill rotWithShape="1">
          <a:blip r:embed="rId2">
            <a:extLst>
              <a:ext uri="{28A0092B-C50C-407E-A947-70E740481C1C}">
                <a14:useLocalDpi xmlns:a14="http://schemas.microsoft.com/office/drawing/2010/main" val="0"/>
              </a:ext>
            </a:extLst>
          </a:blip>
          <a:srcRect b="19"/>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C85AB3DA-940A-D577-FA37-54817ADD156C}"/>
              </a:ext>
            </a:extLst>
          </p:cNvPr>
          <p:cNvSpPr txBox="1"/>
          <p:nvPr/>
        </p:nvSpPr>
        <p:spPr>
          <a:xfrm>
            <a:off x="3514045" y="1531573"/>
            <a:ext cx="425563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4400">
              <a:solidFill>
                <a:srgbClr val="ED7D31"/>
              </a:solidFill>
              <a:latin typeface="Calibri"/>
              <a:ea typeface="Calibri"/>
              <a:cs typeface="Calibri"/>
            </a:endParaRPr>
          </a:p>
        </p:txBody>
      </p:sp>
    </p:spTree>
    <p:extLst>
      <p:ext uri="{BB962C8B-B14F-4D97-AF65-F5344CB8AC3E}">
        <p14:creationId xmlns:p14="http://schemas.microsoft.com/office/powerpoint/2010/main" val="503324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953706" y="908131"/>
            <a:ext cx="5257793" cy="2103272"/>
          </a:xfrm>
        </p:spPr>
        <p:txBody>
          <a:bodyPr/>
          <a:lstStyle/>
          <a:p>
            <a:pPr algn="ctr"/>
            <a:r>
              <a:rPr lang="en-US" dirty="0">
                <a:latin typeface="Times New Roman" panose="02020603050405020304" pitchFamily="18" charset="0"/>
                <a:cs typeface="Times New Roman" panose="02020603050405020304" pitchFamily="18" charset="0"/>
              </a:rPr>
              <a:t>Breast Cancer Risk prediction </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482624" y="3996024"/>
            <a:ext cx="4398223" cy="1739758"/>
          </a:xfrm>
        </p:spPr>
        <p:txBody>
          <a:bodyPr/>
          <a:lstStyle/>
          <a:p>
            <a:pPr algn="just"/>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centers on advancing healthcare by strategically enhancing prediction algorithms through the application of machine learning techniques. This project aims to deepen the understanding </a:t>
            </a:r>
            <a:r>
              <a:rPr lang="en-US" altLang="en-US" sz="1600" b="1" dirty="0">
                <a:solidFill>
                  <a:schemeClr val="tx1"/>
                </a:solidFill>
                <a:latin typeface="Times New Roman" panose="02020603050405020304" pitchFamily="18" charset="0"/>
                <a:cs typeface="Times New Roman" panose="02020603050405020304" pitchFamily="18" charset="0"/>
              </a:rPr>
              <a:t>of breast cancer survival trends and enhance prediction models for patient’s outcomes .</a:t>
            </a: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p:txBody>
      </p:sp>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extLst>
              <a:ext uri="{28A0092B-C50C-407E-A947-70E740481C1C}">
                <a14:useLocalDpi xmlns:a14="http://schemas.microsoft.com/office/drawing/2010/main"/>
              </a:ext>
            </a:extLst>
          </a:blip>
          <a:srcRect t="1875" r="1875"/>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5" name="Footer Placeholder 7">
            <a:extLst>
              <a:ext uri="{FF2B5EF4-FFF2-40B4-BE49-F238E27FC236}">
                <a16:creationId xmlns:a16="http://schemas.microsoft.com/office/drawing/2014/main" id="{FA9E6E0E-B2A9-7245-14CF-948F1FD2EAF9}"/>
              </a:ext>
            </a:extLst>
          </p:cNvPr>
          <p:cNvSpPr txBox="1">
            <a:spLocks/>
          </p:cNvSpPr>
          <p:nvPr/>
        </p:nvSpPr>
        <p:spPr>
          <a:xfrm>
            <a:off x="9785787" y="5568778"/>
            <a:ext cx="253442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latin typeface="Times New Roman" panose="02020603050405020304" pitchFamily="18" charset="0"/>
                <a:cs typeface="Times New Roman" panose="02020603050405020304" pitchFamily="18" charset="0"/>
              </a:rPr>
              <a:t>Presented By : R NITIN</a:t>
            </a:r>
          </a:p>
        </p:txBody>
      </p:sp>
      <p:pic>
        <p:nvPicPr>
          <p:cNvPr id="8" name="Picture 7">
            <a:extLst>
              <a:ext uri="{FF2B5EF4-FFF2-40B4-BE49-F238E27FC236}">
                <a16:creationId xmlns:a16="http://schemas.microsoft.com/office/drawing/2014/main" id="{38E44DB5-28F3-EB40-368B-3FE737033ABB}"/>
              </a:ext>
            </a:extLst>
          </p:cNvPr>
          <p:cNvPicPr>
            <a:picLocks noChangeAspect="1"/>
          </p:cNvPicPr>
          <p:nvPr/>
        </p:nvPicPr>
        <p:blipFill>
          <a:blip r:embed="rId4"/>
          <a:stretch>
            <a:fillRect/>
          </a:stretch>
        </p:blipFill>
        <p:spPr>
          <a:xfrm>
            <a:off x="10254918" y="6308085"/>
            <a:ext cx="1786283" cy="463336"/>
          </a:xfrm>
          <a:prstGeom prst="rect">
            <a:avLst/>
          </a:prstGeom>
        </p:spPr>
      </p:pic>
    </p:spTree>
    <p:extLst>
      <p:ext uri="{BB962C8B-B14F-4D97-AF65-F5344CB8AC3E}">
        <p14:creationId xmlns:p14="http://schemas.microsoft.com/office/powerpoint/2010/main" val="3898447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a:xfrm>
            <a:off x="486699" y="3063862"/>
            <a:ext cx="4253399" cy="1740114"/>
          </a:xfrm>
        </p:spPr>
        <p:txBody>
          <a:bodyPr/>
          <a:lstStyle/>
          <a:p>
            <a:r>
              <a:rPr lang="en-US" dirty="0">
                <a:latin typeface="Times New Roman" panose="02020603050405020304" pitchFamily="18" charset="0"/>
                <a:cs typeface="Times New Roman" panose="02020603050405020304" pitchFamily="18" charset="0"/>
              </a:rPr>
              <a:t>INDEX</a:t>
            </a:r>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dirty="0">
                <a:latin typeface="Times New Roman" panose="02020603050405020304" pitchFamily="18" charset="0"/>
                <a:cs typeface="Times New Roman" panose="02020603050405020304" pitchFamily="18" charset="0"/>
              </a:rPr>
              <a:t>Data Gathering / Data Refinement</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r>
              <a:rPr lang="en-US" dirty="0">
                <a:latin typeface="Times New Roman" panose="02020603050405020304" pitchFamily="18" charset="0"/>
                <a:cs typeface="Times New Roman" panose="02020603050405020304" pitchFamily="18" charset="0"/>
              </a:rPr>
              <a:t>Features Extraction</a:t>
            </a: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US" dirty="0">
                <a:latin typeface="Times New Roman" panose="02020603050405020304" pitchFamily="18" charset="0"/>
                <a:cs typeface="Times New Roman" panose="02020603050405020304" pitchFamily="18" charset="0"/>
              </a:rPr>
              <a:t>Methodology</a:t>
            </a: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a:xfrm>
            <a:off x="8395178" y="4592524"/>
            <a:ext cx="1913128" cy="1075689"/>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8" name="Footer Placeholder 7">
            <a:extLst>
              <a:ext uri="{FF2B5EF4-FFF2-40B4-BE49-F238E27FC236}">
                <a16:creationId xmlns:a16="http://schemas.microsoft.com/office/drawing/2014/main" id="{D36D0CF6-7418-9349-F7A8-045EA96B2D03}"/>
              </a:ext>
            </a:extLst>
          </p:cNvPr>
          <p:cNvSpPr>
            <a:spLocks noGrp="1"/>
          </p:cNvSpPr>
          <p:nvPr>
            <p:ph type="ftr" sz="quarter" idx="33"/>
          </p:nvPr>
        </p:nvSpPr>
        <p:spPr>
          <a:xfrm>
            <a:off x="123815" y="6449587"/>
            <a:ext cx="2489583" cy="365125"/>
          </a:xfrm>
        </p:spPr>
        <p:txBody>
          <a:bodyPr/>
          <a:lstStyle/>
          <a:p>
            <a:r>
              <a:rPr lang="en-US" sz="1400" dirty="0">
                <a:latin typeface="Times New Roman" panose="02020603050405020304" pitchFamily="18" charset="0"/>
                <a:cs typeface="Times New Roman" panose="02020603050405020304" pitchFamily="18" charset="0"/>
              </a:rPr>
              <a:t>Breast Cancer Risk Prediction</a:t>
            </a:r>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a:xfrm>
            <a:off x="11541506" y="6146203"/>
            <a:ext cx="458592" cy="365125"/>
          </a:xfrm>
        </p:spPr>
        <p:txBody>
          <a:bodyPr/>
          <a:lstStyle/>
          <a:p>
            <a:fld id="{47FEACEE-25B4-4A2D-B147-27296E36371D}" type="slidenum">
              <a:rPr lang="en-US" altLang="zh-CN" smtClean="0"/>
              <a:pPr/>
              <a:t>3</a:t>
            </a:fld>
            <a:endParaRPr lang="en-US" altLang="zh-CN" dirty="0"/>
          </a:p>
        </p:txBody>
      </p:sp>
      <p:pic>
        <p:nvPicPr>
          <p:cNvPr id="2" name="Picture 1">
            <a:extLst>
              <a:ext uri="{FF2B5EF4-FFF2-40B4-BE49-F238E27FC236}">
                <a16:creationId xmlns:a16="http://schemas.microsoft.com/office/drawing/2014/main" id="{EFB051B4-F31E-CD40-B20D-BDB33D8536E2}"/>
              </a:ext>
            </a:extLst>
          </p:cNvPr>
          <p:cNvPicPr>
            <a:picLocks noChangeAspect="1"/>
          </p:cNvPicPr>
          <p:nvPr/>
        </p:nvPicPr>
        <p:blipFill>
          <a:blip r:embed="rId3"/>
          <a:stretch>
            <a:fillRect/>
          </a:stretch>
        </p:blipFill>
        <p:spPr>
          <a:xfrm>
            <a:off x="10213815" y="6400482"/>
            <a:ext cx="1786283" cy="463336"/>
          </a:xfrm>
          <a:prstGeom prst="rect">
            <a:avLst/>
          </a:prstGeom>
        </p:spPr>
      </p:pic>
      <p:sp>
        <p:nvSpPr>
          <p:cNvPr id="3" name="Text Placeholder 17">
            <a:extLst>
              <a:ext uri="{FF2B5EF4-FFF2-40B4-BE49-F238E27FC236}">
                <a16:creationId xmlns:a16="http://schemas.microsoft.com/office/drawing/2014/main" id="{4F5E11CD-02C6-49BA-71B2-0BEEF7024E42}"/>
              </a:ext>
            </a:extLst>
          </p:cNvPr>
          <p:cNvSpPr txBox="1">
            <a:spLocks/>
          </p:cNvSpPr>
          <p:nvPr/>
        </p:nvSpPr>
        <p:spPr>
          <a:xfrm>
            <a:off x="5234247" y="2826795"/>
            <a:ext cx="1914694" cy="1089194"/>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pPr>
            <a:r>
              <a:rPr lang="en-US" dirty="0">
                <a:latin typeface="Times New Roman" panose="02020603050405020304" pitchFamily="18" charset="0"/>
                <a:cs typeface="Times New Roman" panose="02020603050405020304" pitchFamily="18" charset="0"/>
              </a:rPr>
              <a:t>Exploratory Data</a:t>
            </a:r>
          </a:p>
          <a:p>
            <a:pPr>
              <a:lnSpc>
                <a:spcPct val="100000"/>
              </a:lnSpc>
              <a:spcBef>
                <a:spcPts val="600"/>
              </a:spcBef>
            </a:pPr>
            <a:r>
              <a:rPr lang="en-US" dirty="0">
                <a:latin typeface="Times New Roman" panose="02020603050405020304" pitchFamily="18" charset="0"/>
                <a:cs typeface="Times New Roman" panose="02020603050405020304" pitchFamily="18" charset="0"/>
              </a:rPr>
              <a:t>Analysis</a:t>
            </a:r>
          </a:p>
        </p:txBody>
      </p:sp>
      <p:sp>
        <p:nvSpPr>
          <p:cNvPr id="4" name="Text Placeholder 17">
            <a:extLst>
              <a:ext uri="{FF2B5EF4-FFF2-40B4-BE49-F238E27FC236}">
                <a16:creationId xmlns:a16="http://schemas.microsoft.com/office/drawing/2014/main" id="{67C8F59A-1BB2-34B4-73DD-6F3DD7757A21}"/>
              </a:ext>
            </a:extLst>
          </p:cNvPr>
          <p:cNvSpPr txBox="1">
            <a:spLocks/>
          </p:cNvSpPr>
          <p:nvPr/>
        </p:nvSpPr>
        <p:spPr>
          <a:xfrm>
            <a:off x="6272461" y="4611816"/>
            <a:ext cx="1914694" cy="1089194"/>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Experimental Results</a:t>
            </a:r>
          </a:p>
        </p:txBody>
      </p:sp>
      <p:sp>
        <p:nvSpPr>
          <p:cNvPr id="5" name="Text Placeholder 17">
            <a:extLst>
              <a:ext uri="{FF2B5EF4-FFF2-40B4-BE49-F238E27FC236}">
                <a16:creationId xmlns:a16="http://schemas.microsoft.com/office/drawing/2014/main" id="{8629F19C-36F1-372D-041F-DC5348BA0609}"/>
              </a:ext>
            </a:extLst>
          </p:cNvPr>
          <p:cNvSpPr txBox="1">
            <a:spLocks/>
          </p:cNvSpPr>
          <p:nvPr/>
        </p:nvSpPr>
        <p:spPr>
          <a:xfrm>
            <a:off x="10382788" y="4622603"/>
            <a:ext cx="1914694" cy="1089194"/>
          </a:xfrm>
          <a:prstGeom prst="rect">
            <a:avLst/>
          </a:prstGeom>
        </p:spPr>
        <p:txBody>
          <a:bodyPr vert="horz" lIns="91440" tIns="45720" rIns="91440" bIns="45720" rtlCol="0" anchor="ctr">
            <a:noAutofit/>
          </a:bodyPr>
          <a:lstStyle>
            <a:lvl1pPr marL="0" indent="0" algn="ctr" defTabSz="914400" rtl="0" eaLnBrk="1" latinLnBrk="0" hangingPunct="1">
              <a:lnSpc>
                <a:spcPct val="113000"/>
              </a:lnSpc>
              <a:spcBef>
                <a:spcPts val="1000"/>
              </a:spcBef>
              <a:buFont typeface="Arial" panose="020B0604020202020204" pitchFamily="34" charset="0"/>
              <a:buNone/>
              <a:defRPr sz="1800" b="0" i="0" kern="1200">
                <a:solidFill>
                  <a:schemeClr val="accent6"/>
                </a:solidFill>
                <a:latin typeface="Abadi" panose="020B06040201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dirty="0">
                <a:latin typeface="Times New Roman" panose="02020603050405020304" pitchFamily="18" charset="0"/>
                <a:cs typeface="Times New Roman" panose="02020603050405020304" pitchFamily="18" charset="0"/>
              </a:rPr>
              <a:t>Appendices and</a:t>
            </a:r>
          </a:p>
          <a:p>
            <a:pPr>
              <a:spcBef>
                <a:spcPts val="0"/>
              </a:spcBef>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775535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828505" y="615295"/>
            <a:ext cx="3756316" cy="1325563"/>
          </a:xfrm>
        </p:spPr>
        <p:txBody>
          <a:bodyPr/>
          <a:lstStyle/>
          <a:p>
            <a:r>
              <a:rPr lang="en-US" altLang="zh-CN" sz="3200" dirty="0">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24641" y="1824317"/>
            <a:ext cx="4260180" cy="4101354"/>
          </a:xfrm>
        </p:spPr>
        <p:txBody>
          <a:bodyPr/>
          <a:lstStyle/>
          <a:p>
            <a:pPr marL="342900" indent="-342900" algn="just">
              <a:spcBef>
                <a:spcPts val="600"/>
              </a:spcBef>
              <a:buFont typeface="+mj-lt"/>
              <a:buAutoNum type="arabicPeriod"/>
            </a:pPr>
            <a:r>
              <a:rPr lang="en-US" dirty="0">
                <a:latin typeface="Times New Roman" panose="02020603050405020304" pitchFamily="18" charset="0"/>
                <a:cs typeface="Times New Roman" panose="02020603050405020304" pitchFamily="18" charset="0"/>
              </a:rPr>
              <a:t>Breast Cancer refers to a group of diseases in which cells in the breast grow uncontrollably. Early detection and Data Science models in medicine can help doctors identify high-risk patients and improve treatment outcomes.</a:t>
            </a:r>
          </a:p>
          <a:p>
            <a:pPr marL="342900" indent="-342900" algn="just">
              <a:spcBef>
                <a:spcPts val="600"/>
              </a:spcBef>
              <a:buFont typeface="+mj-lt"/>
              <a:buAutoNum type="arabicPeriod"/>
            </a:pPr>
            <a:r>
              <a:rPr lang="en-US" dirty="0">
                <a:latin typeface="Times New Roman" panose="02020603050405020304" pitchFamily="18" charset="0"/>
                <a:cs typeface="Times New Roman" panose="02020603050405020304" pitchFamily="18" charset="0"/>
              </a:rPr>
              <a:t>This dataset provides a comprehensive exploration of patient health indicators within a medical context, specifically focusing on factors related to breast cancer risk and prognosis.</a:t>
            </a:r>
          </a:p>
          <a:p>
            <a:pPr marL="342900" indent="-342900" algn="just">
              <a:spcBef>
                <a:spcPts val="600"/>
              </a:spcBef>
              <a:buFont typeface="+mj-lt"/>
              <a:buAutoNum type="arabicPeriod"/>
            </a:pPr>
            <a:r>
              <a:rPr lang="en-US" dirty="0">
                <a:latin typeface="Times New Roman" panose="02020603050405020304" pitchFamily="18" charset="0"/>
                <a:cs typeface="Times New Roman" panose="02020603050405020304" pitchFamily="18" charset="0"/>
              </a:rPr>
              <a:t>The dataset encompasses 34 vital features such as </a:t>
            </a:r>
            <a:r>
              <a:rPr lang="en-US" b="1" dirty="0">
                <a:latin typeface="Times New Roman" panose="02020603050405020304" pitchFamily="18" charset="0"/>
                <a:cs typeface="Times New Roman" panose="02020603050405020304" pitchFamily="18" charset="0"/>
              </a:rPr>
              <a:t>Age of Diagnosis, Tumor Size, Mutation Count, Chemotherapy, Genetic markers, </a:t>
            </a:r>
            <a:r>
              <a:rPr lang="en-US" dirty="0">
                <a:latin typeface="Times New Roman" panose="02020603050405020304" pitchFamily="18" charset="0"/>
                <a:cs typeface="Times New Roman" panose="02020603050405020304" pitchFamily="18" charset="0"/>
              </a:rPr>
              <a:t>and more.</a:t>
            </a:r>
          </a:p>
          <a:p>
            <a:pPr marL="342900" indent="-342900" algn="just">
              <a:spcBef>
                <a:spcPts val="600"/>
              </a:spcBef>
              <a:buFont typeface="+mj-lt"/>
              <a:buAutoNum type="arabicPeriod"/>
            </a:pPr>
            <a:r>
              <a:rPr lang="en-US" dirty="0">
                <a:latin typeface="Times New Roman" panose="02020603050405020304" pitchFamily="18" charset="0"/>
                <a:cs typeface="Times New Roman" panose="02020603050405020304" pitchFamily="18" charset="0"/>
              </a:rPr>
              <a:t>The target variable, </a:t>
            </a:r>
            <a:r>
              <a:rPr lang="en-US" b="1" dirty="0">
                <a:latin typeface="Times New Roman" panose="02020603050405020304" pitchFamily="18" charset="0"/>
                <a:cs typeface="Times New Roman" panose="02020603050405020304" pitchFamily="18" charset="0"/>
              </a:rPr>
              <a:t>‘Patient vital status’</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signifies the likelihood of an individual having or developing breast cancer.</a:t>
            </a:r>
          </a:p>
        </p:txBody>
      </p:sp>
      <p:pic>
        <p:nvPicPr>
          <p:cNvPr id="12" name="Picture Placeholder 11" descr="People around a table on their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print">
            <a:extLst>
              <a:ext uri="{28A0092B-C50C-407E-A947-70E740481C1C}">
                <a14:useLocalDpi xmlns:a14="http://schemas.microsoft.com/office/drawing/2010/main"/>
              </a:ext>
            </a:extLst>
          </a:blip>
          <a:srcRect/>
          <a:stretch/>
        </p:blipFill>
        <p:spPr>
          <a:xfrm>
            <a:off x="5745001" y="-8965"/>
            <a:ext cx="6446999" cy="6858000"/>
          </a:xfrm>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a:xfrm>
            <a:off x="11643032" y="6127750"/>
            <a:ext cx="458592" cy="365125"/>
          </a:xfrm>
        </p:spPr>
        <p:txBody>
          <a:bodyPr/>
          <a:lstStyle/>
          <a:p>
            <a:fld id="{47FEACEE-25B4-4A2D-B147-27296E36371D}" type="slidenum">
              <a:rPr lang="en-US" altLang="zh-CN" smtClean="0"/>
              <a:pPr/>
              <a:t>4</a:t>
            </a:fld>
            <a:endParaRPr lang="en-US" altLang="zh-CN" dirty="0"/>
          </a:p>
        </p:txBody>
      </p:sp>
      <p:sp>
        <p:nvSpPr>
          <p:cNvPr id="17" name="Footer Placeholder 7">
            <a:extLst>
              <a:ext uri="{FF2B5EF4-FFF2-40B4-BE49-F238E27FC236}">
                <a16:creationId xmlns:a16="http://schemas.microsoft.com/office/drawing/2014/main" id="{078BBFAD-0655-6A13-21C8-D1105B8F442C}"/>
              </a:ext>
            </a:extLst>
          </p:cNvPr>
          <p:cNvSpPr txBox="1">
            <a:spLocks/>
          </p:cNvSpPr>
          <p:nvPr/>
        </p:nvSpPr>
        <p:spPr>
          <a:xfrm>
            <a:off x="90376" y="6479310"/>
            <a:ext cx="248958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Breast Cancer Risk Prediction</a:t>
            </a:r>
          </a:p>
        </p:txBody>
      </p:sp>
      <p:pic>
        <p:nvPicPr>
          <p:cNvPr id="18" name="Picture 17">
            <a:extLst>
              <a:ext uri="{FF2B5EF4-FFF2-40B4-BE49-F238E27FC236}">
                <a16:creationId xmlns:a16="http://schemas.microsoft.com/office/drawing/2014/main" id="{036159D9-1B0C-02F1-DC0F-DC256FE95709}"/>
              </a:ext>
            </a:extLst>
          </p:cNvPr>
          <p:cNvPicPr>
            <a:picLocks noChangeAspect="1"/>
          </p:cNvPicPr>
          <p:nvPr/>
        </p:nvPicPr>
        <p:blipFill>
          <a:blip r:embed="rId4"/>
          <a:stretch>
            <a:fillRect/>
          </a:stretch>
        </p:blipFill>
        <p:spPr>
          <a:xfrm>
            <a:off x="10405717" y="6430205"/>
            <a:ext cx="1786283" cy="463336"/>
          </a:xfrm>
          <a:prstGeom prst="rect">
            <a:avLst/>
          </a:prstGeom>
        </p:spPr>
      </p:pic>
    </p:spTree>
    <p:extLst>
      <p:ext uri="{BB962C8B-B14F-4D97-AF65-F5344CB8AC3E}">
        <p14:creationId xmlns:p14="http://schemas.microsoft.com/office/powerpoint/2010/main" val="77554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3431121" y="2262956"/>
            <a:ext cx="0" cy="736246"/>
          </a:xfrm>
          <a:prstGeom prst="line">
            <a:avLst/>
          </a:prstGeom>
          <a:ln w="19050" cap="flat">
            <a:solidFill>
              <a:srgbClr val="404040"/>
            </a:solidFill>
            <a:prstDash val="sysDot"/>
            <a:headEnd type="triangle" w="lg" len="med"/>
            <a:tailEnd type="none" w="sm" len="sm"/>
          </a:ln>
        </p:spPr>
      </p:sp>
      <p:sp>
        <p:nvSpPr>
          <p:cNvPr id="3" name="AutoShape 3"/>
          <p:cNvSpPr/>
          <p:nvPr/>
        </p:nvSpPr>
        <p:spPr>
          <a:xfrm flipV="1">
            <a:off x="3431121" y="3595976"/>
            <a:ext cx="0" cy="736246"/>
          </a:xfrm>
          <a:prstGeom prst="line">
            <a:avLst/>
          </a:prstGeom>
          <a:ln w="19050" cap="flat">
            <a:solidFill>
              <a:srgbClr val="404040"/>
            </a:solidFill>
            <a:prstDash val="sysDot"/>
            <a:headEnd type="triangle" w="lg" len="med"/>
            <a:tailEnd type="none" w="sm" len="sm"/>
          </a:ln>
        </p:spPr>
      </p:sp>
      <p:sp>
        <p:nvSpPr>
          <p:cNvPr id="4" name="AutoShape 4"/>
          <p:cNvSpPr/>
          <p:nvPr/>
        </p:nvSpPr>
        <p:spPr>
          <a:xfrm flipH="1" flipV="1">
            <a:off x="6119861" y="4064647"/>
            <a:ext cx="0" cy="972323"/>
          </a:xfrm>
          <a:prstGeom prst="line">
            <a:avLst/>
          </a:prstGeom>
          <a:ln w="19050" cap="flat">
            <a:solidFill>
              <a:srgbClr val="404040"/>
            </a:solidFill>
            <a:prstDash val="sysDot"/>
            <a:headEnd type="none" w="sm" len="sm"/>
            <a:tailEnd type="arrow" w="med" len="sm"/>
          </a:ln>
        </p:spPr>
      </p:sp>
      <p:sp>
        <p:nvSpPr>
          <p:cNvPr id="5" name="AutoShape 5"/>
          <p:cNvSpPr/>
          <p:nvPr/>
        </p:nvSpPr>
        <p:spPr>
          <a:xfrm flipH="1" flipV="1">
            <a:off x="6119861" y="2701899"/>
            <a:ext cx="0" cy="972323"/>
          </a:xfrm>
          <a:prstGeom prst="line">
            <a:avLst/>
          </a:prstGeom>
          <a:ln w="19050" cap="flat">
            <a:solidFill>
              <a:srgbClr val="404040"/>
            </a:solidFill>
            <a:prstDash val="sysDot"/>
            <a:headEnd type="none" w="sm" len="sm"/>
            <a:tailEnd type="arrow" w="med" len="sm"/>
          </a:ln>
        </p:spPr>
      </p:sp>
      <p:grpSp>
        <p:nvGrpSpPr>
          <p:cNvPr id="6" name="Group 6"/>
          <p:cNvGrpSpPr/>
          <p:nvPr/>
        </p:nvGrpSpPr>
        <p:grpSpPr>
          <a:xfrm>
            <a:off x="2433754" y="3343504"/>
            <a:ext cx="2013048" cy="661437"/>
            <a:chOff x="0" y="0"/>
            <a:chExt cx="1284735" cy="422132"/>
          </a:xfrm>
        </p:grpSpPr>
        <p:sp>
          <p:nvSpPr>
            <p:cNvPr id="7" name="Freeform 7"/>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p:spPr>
        </p:sp>
        <p:sp>
          <p:nvSpPr>
            <p:cNvPr id="8" name="TextBox 8"/>
            <p:cNvSpPr txBox="1"/>
            <p:nvPr/>
          </p:nvSpPr>
          <p:spPr>
            <a:xfrm>
              <a:off x="0" y="-28575"/>
              <a:ext cx="1284735" cy="450707"/>
            </a:xfrm>
            <a:prstGeom prst="rect">
              <a:avLst/>
            </a:prstGeom>
          </p:spPr>
          <p:txBody>
            <a:bodyPr lIns="47625" tIns="47625" rIns="47625" bIns="47625" rtlCol="0" anchor="ctr"/>
            <a:lstStyle/>
            <a:p>
              <a:pPr algn="ctr">
                <a:lnSpc>
                  <a:spcPts val="1994"/>
                </a:lnSpc>
              </a:pPr>
              <a:endParaRPr sz="1688"/>
            </a:p>
          </p:txBody>
        </p:sp>
      </p:grpSp>
      <p:grpSp>
        <p:nvGrpSpPr>
          <p:cNvPr id="9" name="Group 9"/>
          <p:cNvGrpSpPr/>
          <p:nvPr/>
        </p:nvGrpSpPr>
        <p:grpSpPr>
          <a:xfrm>
            <a:off x="5122574" y="3359479"/>
            <a:ext cx="2052770" cy="725163"/>
            <a:chOff x="0" y="0"/>
            <a:chExt cx="1310086" cy="462802"/>
          </a:xfrm>
        </p:grpSpPr>
        <p:sp>
          <p:nvSpPr>
            <p:cNvPr id="10" name="Freeform 10"/>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cap="rnd">
              <a:noFill/>
              <a:prstDash val="solid"/>
              <a:round/>
            </a:ln>
          </p:spPr>
        </p:sp>
        <p:sp>
          <p:nvSpPr>
            <p:cNvPr id="11" name="TextBox 11"/>
            <p:cNvSpPr txBox="1"/>
            <p:nvPr/>
          </p:nvSpPr>
          <p:spPr>
            <a:xfrm>
              <a:off x="25351" y="31145"/>
              <a:ext cx="1284735" cy="431657"/>
            </a:xfrm>
            <a:prstGeom prst="rect">
              <a:avLst/>
            </a:prstGeom>
          </p:spPr>
          <p:txBody>
            <a:bodyPr lIns="47625" tIns="47625" rIns="47625" bIns="47625" rtlCol="0" anchor="ctr"/>
            <a:lstStyle/>
            <a:p>
              <a:pPr algn="ctr">
                <a:lnSpc>
                  <a:spcPts val="1204"/>
                </a:lnSpc>
                <a:spcBef>
                  <a:spcPct val="0"/>
                </a:spcBef>
              </a:pPr>
              <a:r>
                <a:rPr lang="en-US" sz="1125" b="1" spc="124" dirty="0">
                  <a:solidFill>
                    <a:srgbClr val="404040"/>
                  </a:solidFill>
                  <a:latin typeface="Times New Roman Condensed Bold"/>
                  <a:ea typeface="Times New Roman Condensed Bold"/>
                  <a:cs typeface="Times New Roman Condensed Bold"/>
                  <a:sym typeface="Times New Roman Condensed Bold"/>
                </a:rPr>
                <a:t>MODEL SELECTION AND MODEL TRAINING</a:t>
              </a:r>
            </a:p>
          </p:txBody>
        </p:sp>
      </p:grpSp>
      <p:sp>
        <p:nvSpPr>
          <p:cNvPr id="12" name="AutoShape 12"/>
          <p:cNvSpPr/>
          <p:nvPr/>
        </p:nvSpPr>
        <p:spPr>
          <a:xfrm>
            <a:off x="3431121" y="5055538"/>
            <a:ext cx="1654725" cy="0"/>
          </a:xfrm>
          <a:prstGeom prst="line">
            <a:avLst/>
          </a:prstGeom>
          <a:ln w="19050" cap="flat">
            <a:solidFill>
              <a:srgbClr val="404040"/>
            </a:solidFill>
            <a:prstDash val="sysDot"/>
            <a:headEnd type="none" w="sm" len="sm"/>
            <a:tailEnd type="arrow" w="med" len="sm"/>
          </a:ln>
        </p:spPr>
      </p:sp>
      <p:sp>
        <p:nvSpPr>
          <p:cNvPr id="13" name="AutoShape 13"/>
          <p:cNvSpPr/>
          <p:nvPr/>
        </p:nvSpPr>
        <p:spPr>
          <a:xfrm>
            <a:off x="6498233" y="2262955"/>
            <a:ext cx="1248098" cy="0"/>
          </a:xfrm>
          <a:prstGeom prst="line">
            <a:avLst/>
          </a:prstGeom>
          <a:ln w="19050" cap="flat">
            <a:solidFill>
              <a:srgbClr val="404040"/>
            </a:solidFill>
            <a:prstDash val="sysDot"/>
            <a:headEnd type="none" w="sm" len="sm"/>
            <a:tailEnd type="arrow" w="med" len="sm"/>
          </a:ln>
        </p:spPr>
      </p:sp>
      <p:grpSp>
        <p:nvGrpSpPr>
          <p:cNvPr id="14" name="Group 14"/>
          <p:cNvGrpSpPr/>
          <p:nvPr/>
        </p:nvGrpSpPr>
        <p:grpSpPr>
          <a:xfrm>
            <a:off x="2433527" y="1996342"/>
            <a:ext cx="2013048" cy="661437"/>
            <a:chOff x="0" y="0"/>
            <a:chExt cx="1284735" cy="422132"/>
          </a:xfrm>
        </p:grpSpPr>
        <p:sp>
          <p:nvSpPr>
            <p:cNvPr id="15" name="Freeform 15"/>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sp>
        <p:sp>
          <p:nvSpPr>
            <p:cNvPr id="16" name="TextBox 16"/>
            <p:cNvSpPr txBox="1"/>
            <p:nvPr/>
          </p:nvSpPr>
          <p:spPr>
            <a:xfrm>
              <a:off x="0" y="-28575"/>
              <a:ext cx="1284735" cy="450707"/>
            </a:xfrm>
            <a:prstGeom prst="rect">
              <a:avLst/>
            </a:prstGeom>
          </p:spPr>
          <p:txBody>
            <a:bodyPr lIns="47625" tIns="47625" rIns="47625" bIns="47625" rtlCol="0" anchor="ctr"/>
            <a:lstStyle/>
            <a:p>
              <a:pPr algn="ctr">
                <a:lnSpc>
                  <a:spcPts val="1994"/>
                </a:lnSpc>
              </a:pPr>
              <a:endParaRPr sz="1688"/>
            </a:p>
          </p:txBody>
        </p:sp>
      </p:grpSp>
      <p:grpSp>
        <p:nvGrpSpPr>
          <p:cNvPr id="17" name="Group 17"/>
          <p:cNvGrpSpPr/>
          <p:nvPr/>
        </p:nvGrpSpPr>
        <p:grpSpPr>
          <a:xfrm>
            <a:off x="7746332" y="1996342"/>
            <a:ext cx="2013048" cy="661437"/>
            <a:chOff x="0" y="0"/>
            <a:chExt cx="1284735" cy="422132"/>
          </a:xfrm>
        </p:grpSpPr>
        <p:sp>
          <p:nvSpPr>
            <p:cNvPr id="18" name="Freeform 18"/>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sp>
        <p:sp>
          <p:nvSpPr>
            <p:cNvPr id="19" name="TextBox 19"/>
            <p:cNvSpPr txBox="1"/>
            <p:nvPr/>
          </p:nvSpPr>
          <p:spPr>
            <a:xfrm>
              <a:off x="0" y="-28575"/>
              <a:ext cx="1284735" cy="450707"/>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20" name="Group 20"/>
          <p:cNvGrpSpPr/>
          <p:nvPr/>
        </p:nvGrpSpPr>
        <p:grpSpPr>
          <a:xfrm>
            <a:off x="5122347" y="2012317"/>
            <a:ext cx="2013048" cy="661437"/>
            <a:chOff x="0" y="0"/>
            <a:chExt cx="1284735" cy="422132"/>
          </a:xfrm>
        </p:grpSpPr>
        <p:sp>
          <p:nvSpPr>
            <p:cNvPr id="21" name="Freeform 21"/>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sp>
        <p:sp>
          <p:nvSpPr>
            <p:cNvPr id="22" name="TextBox 22"/>
            <p:cNvSpPr txBox="1"/>
            <p:nvPr/>
          </p:nvSpPr>
          <p:spPr>
            <a:xfrm>
              <a:off x="0" y="-9525"/>
              <a:ext cx="1284735" cy="431657"/>
            </a:xfrm>
            <a:prstGeom prst="rect">
              <a:avLst/>
            </a:prstGeom>
          </p:spPr>
          <p:txBody>
            <a:bodyPr lIns="47625" tIns="47625" rIns="47625" bIns="47625" rtlCol="0" anchor="ctr"/>
            <a:lstStyle/>
            <a:p>
              <a:pPr algn="ctr">
                <a:lnSpc>
                  <a:spcPts val="1204"/>
                </a:lnSpc>
                <a:spcBef>
                  <a:spcPct val="0"/>
                </a:spcBef>
              </a:pPr>
              <a:r>
                <a:rPr lang="en-US" sz="1125" b="1" spc="124" dirty="0">
                  <a:solidFill>
                    <a:srgbClr val="404040"/>
                  </a:solidFill>
                  <a:latin typeface="Times New Roman Condensed Bold"/>
                  <a:ea typeface="Times New Roman Condensed Bold"/>
                  <a:cs typeface="Times New Roman Condensed Bold"/>
                  <a:sym typeface="Times New Roman Condensed Bold"/>
                </a:rPr>
                <a:t>SPLIT TRAIN AND TEST DATA</a:t>
              </a:r>
            </a:p>
          </p:txBody>
        </p:sp>
      </p:grpSp>
      <p:grpSp>
        <p:nvGrpSpPr>
          <p:cNvPr id="23" name="Group 23"/>
          <p:cNvGrpSpPr/>
          <p:nvPr/>
        </p:nvGrpSpPr>
        <p:grpSpPr>
          <a:xfrm>
            <a:off x="2433754" y="4690277"/>
            <a:ext cx="2013048" cy="661437"/>
            <a:chOff x="0" y="0"/>
            <a:chExt cx="1284735" cy="422132"/>
          </a:xfrm>
        </p:grpSpPr>
        <p:sp>
          <p:nvSpPr>
            <p:cNvPr id="24" name="Freeform 24"/>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cap="rnd">
              <a:noFill/>
              <a:prstDash val="solid"/>
              <a:round/>
            </a:ln>
          </p:spPr>
        </p:sp>
        <p:sp>
          <p:nvSpPr>
            <p:cNvPr id="25" name="TextBox 25"/>
            <p:cNvSpPr txBox="1"/>
            <p:nvPr/>
          </p:nvSpPr>
          <p:spPr>
            <a:xfrm>
              <a:off x="0" y="-28575"/>
              <a:ext cx="1284735" cy="450707"/>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26" name="Group 26"/>
          <p:cNvGrpSpPr/>
          <p:nvPr/>
        </p:nvGrpSpPr>
        <p:grpSpPr>
          <a:xfrm>
            <a:off x="5122574" y="4706252"/>
            <a:ext cx="2013048" cy="661437"/>
            <a:chOff x="0" y="0"/>
            <a:chExt cx="1284735" cy="422132"/>
          </a:xfrm>
        </p:grpSpPr>
        <p:sp>
          <p:nvSpPr>
            <p:cNvPr id="27" name="Freeform 27"/>
            <p:cNvSpPr/>
            <p:nvPr/>
          </p:nvSpPr>
          <p:spPr>
            <a:xfrm>
              <a:off x="0" y="0"/>
              <a:ext cx="1284735" cy="422132"/>
            </a:xfrm>
            <a:custGeom>
              <a:avLst/>
              <a:gdLst/>
              <a:ahLst/>
              <a:cxnLst/>
              <a:rect l="l" t="t" r="r" b="b"/>
              <a:pathLst>
                <a:path w="1284735" h="422132">
                  <a:moveTo>
                    <a:pt x="211066" y="0"/>
                  </a:moveTo>
                  <a:lnTo>
                    <a:pt x="1073669" y="0"/>
                  </a:lnTo>
                  <a:cubicBezTo>
                    <a:pt x="1190238" y="0"/>
                    <a:pt x="1284735" y="94497"/>
                    <a:pt x="1284735" y="211066"/>
                  </a:cubicBezTo>
                  <a:lnTo>
                    <a:pt x="1284735" y="211066"/>
                  </a:lnTo>
                  <a:cubicBezTo>
                    <a:pt x="1284735" y="267044"/>
                    <a:pt x="1262498" y="320729"/>
                    <a:pt x="1222915" y="360312"/>
                  </a:cubicBezTo>
                  <a:cubicBezTo>
                    <a:pt x="1183333" y="399894"/>
                    <a:pt x="1129647" y="422132"/>
                    <a:pt x="1073669" y="422132"/>
                  </a:cubicBezTo>
                  <a:lnTo>
                    <a:pt x="211066" y="422132"/>
                  </a:lnTo>
                  <a:cubicBezTo>
                    <a:pt x="155088" y="422132"/>
                    <a:pt x="101402" y="399894"/>
                    <a:pt x="61820" y="360312"/>
                  </a:cubicBezTo>
                  <a:cubicBezTo>
                    <a:pt x="22237" y="320729"/>
                    <a:pt x="0" y="267044"/>
                    <a:pt x="0" y="211066"/>
                  </a:cubicBezTo>
                  <a:lnTo>
                    <a:pt x="0" y="211066"/>
                  </a:lnTo>
                  <a:cubicBezTo>
                    <a:pt x="0" y="155088"/>
                    <a:pt x="22237" y="101402"/>
                    <a:pt x="61820" y="61820"/>
                  </a:cubicBezTo>
                  <a:cubicBezTo>
                    <a:pt x="101402" y="22237"/>
                    <a:pt x="155088" y="0"/>
                    <a:pt x="211066" y="0"/>
                  </a:cubicBezTo>
                  <a:close/>
                </a:path>
              </a:pathLst>
            </a:custGeom>
            <a:solidFill>
              <a:srgbClr val="FFBD59"/>
            </a:solidFill>
            <a:ln w="19050" cap="rnd">
              <a:solidFill>
                <a:srgbClr val="FFBD59"/>
              </a:solidFill>
              <a:prstDash val="solid"/>
              <a:round/>
            </a:ln>
          </p:spPr>
        </p:sp>
        <p:sp>
          <p:nvSpPr>
            <p:cNvPr id="28" name="TextBox 28"/>
            <p:cNvSpPr txBox="1"/>
            <p:nvPr/>
          </p:nvSpPr>
          <p:spPr>
            <a:xfrm>
              <a:off x="0" y="-28575"/>
              <a:ext cx="1284735" cy="450707"/>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29" name="Group 29"/>
          <p:cNvGrpSpPr/>
          <p:nvPr/>
        </p:nvGrpSpPr>
        <p:grpSpPr>
          <a:xfrm>
            <a:off x="3217191" y="1638739"/>
            <a:ext cx="445718" cy="445718"/>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31" name="TextBox 31"/>
            <p:cNvSpPr txBox="1"/>
            <p:nvPr/>
          </p:nvSpPr>
          <p:spPr>
            <a:xfrm>
              <a:off x="76200" y="47625"/>
              <a:ext cx="660400" cy="688975"/>
            </a:xfrm>
            <a:prstGeom prst="rect">
              <a:avLst/>
            </a:prstGeom>
          </p:spPr>
          <p:txBody>
            <a:bodyPr lIns="47625" tIns="47625" rIns="47625" bIns="47625" rtlCol="0" anchor="ctr"/>
            <a:lstStyle/>
            <a:p>
              <a:pPr algn="ctr">
                <a:lnSpc>
                  <a:spcPts val="1994"/>
                </a:lnSpc>
              </a:pPr>
              <a:endParaRPr sz="1688"/>
            </a:p>
          </p:txBody>
        </p:sp>
      </p:grpSp>
      <p:grpSp>
        <p:nvGrpSpPr>
          <p:cNvPr id="32" name="Group 32"/>
          <p:cNvGrpSpPr/>
          <p:nvPr/>
        </p:nvGrpSpPr>
        <p:grpSpPr>
          <a:xfrm>
            <a:off x="3217191" y="2999201"/>
            <a:ext cx="445718" cy="44571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34" name="TextBox 34"/>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35" name="Group 35"/>
          <p:cNvGrpSpPr/>
          <p:nvPr/>
        </p:nvGrpSpPr>
        <p:grpSpPr>
          <a:xfrm>
            <a:off x="3217191" y="4342384"/>
            <a:ext cx="445718" cy="445718"/>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37" name="TextBox 37"/>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38" name="Group 38"/>
          <p:cNvGrpSpPr/>
          <p:nvPr/>
        </p:nvGrpSpPr>
        <p:grpSpPr>
          <a:xfrm>
            <a:off x="8529996" y="1638739"/>
            <a:ext cx="445718" cy="445718"/>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0" name="TextBox 40"/>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41" name="Group 41"/>
          <p:cNvGrpSpPr/>
          <p:nvPr/>
        </p:nvGrpSpPr>
        <p:grpSpPr>
          <a:xfrm>
            <a:off x="5906011" y="1650641"/>
            <a:ext cx="445718" cy="445718"/>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3" name="TextBox 43"/>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44" name="Group 44"/>
          <p:cNvGrpSpPr/>
          <p:nvPr/>
        </p:nvGrpSpPr>
        <p:grpSpPr>
          <a:xfrm>
            <a:off x="5906011" y="3011104"/>
            <a:ext cx="445718" cy="445718"/>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6" name="TextBox 46"/>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grpSp>
        <p:nvGrpSpPr>
          <p:cNvPr id="47" name="Group 47"/>
          <p:cNvGrpSpPr/>
          <p:nvPr/>
        </p:nvGrpSpPr>
        <p:grpSpPr>
          <a:xfrm>
            <a:off x="5906011" y="4354286"/>
            <a:ext cx="445718" cy="445718"/>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BD9A6D"/>
              </a:solidFill>
              <a:prstDash val="solid"/>
              <a:miter/>
            </a:ln>
          </p:spPr>
        </p:sp>
        <p:sp>
          <p:nvSpPr>
            <p:cNvPr id="49" name="TextBox 49"/>
            <p:cNvSpPr txBox="1"/>
            <p:nvPr/>
          </p:nvSpPr>
          <p:spPr>
            <a:xfrm>
              <a:off x="76200" y="47625"/>
              <a:ext cx="660400" cy="688975"/>
            </a:xfrm>
            <a:prstGeom prst="rect">
              <a:avLst/>
            </a:prstGeom>
          </p:spPr>
          <p:txBody>
            <a:bodyPr lIns="47625" tIns="47625" rIns="47625" bIns="47625" rtlCol="0" anchor="ctr"/>
            <a:lstStyle/>
            <a:p>
              <a:pPr algn="ctr">
                <a:lnSpc>
                  <a:spcPts val="1994"/>
                </a:lnSpc>
                <a:spcBef>
                  <a:spcPct val="0"/>
                </a:spcBef>
              </a:pPr>
              <a:endParaRPr sz="1688"/>
            </a:p>
          </p:txBody>
        </p:sp>
      </p:grpSp>
      <p:sp>
        <p:nvSpPr>
          <p:cNvPr id="50" name="TextBox 50"/>
          <p:cNvSpPr txBox="1"/>
          <p:nvPr/>
        </p:nvSpPr>
        <p:spPr>
          <a:xfrm>
            <a:off x="4446576" y="451955"/>
            <a:ext cx="3442366" cy="512961"/>
          </a:xfrm>
          <a:prstGeom prst="rect">
            <a:avLst/>
          </a:prstGeom>
        </p:spPr>
        <p:txBody>
          <a:bodyPr wrap="square" lIns="0" tIns="0" rIns="0" bIns="0" rtlCol="0" anchor="t">
            <a:spAutoFit/>
          </a:bodyPr>
          <a:lstStyle/>
          <a:p>
            <a:pPr algn="just">
              <a:lnSpc>
                <a:spcPts val="4047"/>
              </a:lnSpc>
            </a:pPr>
            <a:r>
              <a:rPr lang="en-US" sz="3600" b="1" dirty="0">
                <a:latin typeface="Times New Roman" panose="02020603050405020304" pitchFamily="18" charset="0"/>
                <a:ea typeface="Times New Roman Condensed"/>
                <a:cs typeface="Times New Roman" panose="02020603050405020304" pitchFamily="18" charset="0"/>
                <a:sym typeface="Times New Roman Condensed"/>
              </a:rPr>
              <a:t>WORKFLOW</a:t>
            </a:r>
            <a:endParaRPr lang="en-US" sz="3089" b="1" dirty="0">
              <a:latin typeface="Times New Roman" panose="02020603050405020304" pitchFamily="18" charset="0"/>
              <a:ea typeface="Times New Roman Condensed"/>
              <a:cs typeface="Times New Roman" panose="02020603050405020304" pitchFamily="18" charset="0"/>
              <a:sym typeface="Times New Roman Condensed"/>
            </a:endParaRPr>
          </a:p>
        </p:txBody>
      </p:sp>
      <p:sp>
        <p:nvSpPr>
          <p:cNvPr id="51" name="TextBox 51"/>
          <p:cNvSpPr txBox="1"/>
          <p:nvPr/>
        </p:nvSpPr>
        <p:spPr>
          <a:xfrm>
            <a:off x="2715594" y="3517493"/>
            <a:ext cx="1449335" cy="461665"/>
          </a:xfrm>
          <a:prstGeom prst="rect">
            <a:avLst/>
          </a:prstGeom>
        </p:spPr>
        <p:txBody>
          <a:bodyPr lIns="0" tIns="0" rIns="0" bIns="0" rtlCol="0" anchor="t">
            <a:spAutoFit/>
          </a:bodyPr>
          <a:lstStyle/>
          <a:p>
            <a:pPr algn="ctr">
              <a:lnSpc>
                <a:spcPts val="1204"/>
              </a:lnSpc>
              <a:spcBef>
                <a:spcPct val="0"/>
              </a:spcBef>
            </a:pPr>
            <a:r>
              <a:rPr lang="en-US" sz="1125" b="1" spc="124">
                <a:solidFill>
                  <a:srgbClr val="404040"/>
                </a:solidFill>
                <a:latin typeface="Times New Roman Condensed Bold"/>
                <a:ea typeface="Times New Roman Condensed Bold"/>
                <a:cs typeface="Times New Roman Condensed Bold"/>
                <a:sym typeface="Times New Roman Condensed Bold"/>
              </a:rPr>
              <a:t>DATA PREPROCESSING</a:t>
            </a:r>
          </a:p>
        </p:txBody>
      </p:sp>
      <p:sp>
        <p:nvSpPr>
          <p:cNvPr id="52" name="TextBox 52"/>
          <p:cNvSpPr txBox="1"/>
          <p:nvPr/>
        </p:nvSpPr>
        <p:spPr>
          <a:xfrm>
            <a:off x="2817722" y="2170331"/>
            <a:ext cx="1244692" cy="307777"/>
          </a:xfrm>
          <a:prstGeom prst="rect">
            <a:avLst/>
          </a:prstGeom>
        </p:spPr>
        <p:txBody>
          <a:bodyPr lIns="0" tIns="0" rIns="0" bIns="0" rtlCol="0" anchor="t">
            <a:spAutoFit/>
          </a:bodyPr>
          <a:lstStyle/>
          <a:p>
            <a:pPr algn="ctr">
              <a:lnSpc>
                <a:spcPts val="1204"/>
              </a:lnSpc>
            </a:pPr>
            <a:r>
              <a:rPr lang="en-US" sz="1125" b="1" spc="124" dirty="0">
                <a:solidFill>
                  <a:srgbClr val="404040"/>
                </a:solidFill>
                <a:latin typeface="Times New Roman Condensed Bold"/>
                <a:ea typeface="Times New Roman Condensed Bold"/>
                <a:cs typeface="Times New Roman Condensed Bold"/>
                <a:sym typeface="Times New Roman Condensed Bold"/>
              </a:rPr>
              <a:t>DATA COLLECTION</a:t>
            </a:r>
          </a:p>
        </p:txBody>
      </p:sp>
      <p:sp>
        <p:nvSpPr>
          <p:cNvPr id="53" name="TextBox 53"/>
          <p:cNvSpPr txBox="1"/>
          <p:nvPr/>
        </p:nvSpPr>
        <p:spPr>
          <a:xfrm>
            <a:off x="3296056" y="1702778"/>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1</a:t>
            </a:r>
          </a:p>
        </p:txBody>
      </p:sp>
      <p:sp>
        <p:nvSpPr>
          <p:cNvPr id="54" name="TextBox 54"/>
          <p:cNvSpPr txBox="1"/>
          <p:nvPr/>
        </p:nvSpPr>
        <p:spPr>
          <a:xfrm>
            <a:off x="5985085" y="1702778"/>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6</a:t>
            </a:r>
          </a:p>
        </p:txBody>
      </p:sp>
      <p:sp>
        <p:nvSpPr>
          <p:cNvPr id="55" name="TextBox 55"/>
          <p:cNvSpPr txBox="1"/>
          <p:nvPr/>
        </p:nvSpPr>
        <p:spPr>
          <a:xfrm>
            <a:off x="3296056" y="3054600"/>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2</a:t>
            </a:r>
          </a:p>
        </p:txBody>
      </p:sp>
      <p:sp>
        <p:nvSpPr>
          <p:cNvPr id="56" name="TextBox 56"/>
          <p:cNvSpPr txBox="1"/>
          <p:nvPr/>
        </p:nvSpPr>
        <p:spPr>
          <a:xfrm>
            <a:off x="5985085" y="3054600"/>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5</a:t>
            </a:r>
          </a:p>
        </p:txBody>
      </p:sp>
      <p:sp>
        <p:nvSpPr>
          <p:cNvPr id="57" name="TextBox 57"/>
          <p:cNvSpPr txBox="1"/>
          <p:nvPr/>
        </p:nvSpPr>
        <p:spPr>
          <a:xfrm>
            <a:off x="8189410" y="2186306"/>
            <a:ext cx="1126893" cy="307777"/>
          </a:xfrm>
          <a:prstGeom prst="rect">
            <a:avLst/>
          </a:prstGeom>
        </p:spPr>
        <p:txBody>
          <a:bodyPr lIns="0" tIns="0" rIns="0" bIns="0" rtlCol="0" anchor="t">
            <a:spAutoFit/>
          </a:bodyPr>
          <a:lstStyle/>
          <a:p>
            <a:pPr algn="ctr">
              <a:lnSpc>
                <a:spcPts val="1204"/>
              </a:lnSpc>
              <a:spcBef>
                <a:spcPct val="0"/>
              </a:spcBef>
            </a:pPr>
            <a:r>
              <a:rPr lang="en-US" sz="1125" b="1" spc="124" dirty="0">
                <a:solidFill>
                  <a:srgbClr val="404040"/>
                </a:solidFill>
                <a:latin typeface="Times New Roman Condensed Bold"/>
                <a:ea typeface="Times New Roman Condensed Bold"/>
                <a:cs typeface="Times New Roman Condensed Bold"/>
                <a:sym typeface="Times New Roman Condensed Bold"/>
              </a:rPr>
              <a:t>MONITOR AND UPDATE</a:t>
            </a:r>
          </a:p>
        </p:txBody>
      </p:sp>
      <p:sp>
        <p:nvSpPr>
          <p:cNvPr id="58" name="TextBox 58"/>
          <p:cNvSpPr txBox="1"/>
          <p:nvPr/>
        </p:nvSpPr>
        <p:spPr>
          <a:xfrm>
            <a:off x="2715594" y="4884771"/>
            <a:ext cx="1449335" cy="307777"/>
          </a:xfrm>
          <a:prstGeom prst="rect">
            <a:avLst/>
          </a:prstGeom>
        </p:spPr>
        <p:txBody>
          <a:bodyPr lIns="0" tIns="0" rIns="0" bIns="0" rtlCol="0" anchor="t">
            <a:spAutoFit/>
          </a:bodyPr>
          <a:lstStyle/>
          <a:p>
            <a:pPr algn="ctr">
              <a:lnSpc>
                <a:spcPts val="1204"/>
              </a:lnSpc>
              <a:spcBef>
                <a:spcPct val="0"/>
              </a:spcBef>
            </a:pPr>
            <a:r>
              <a:rPr lang="en-US" sz="1125" b="1" spc="124">
                <a:solidFill>
                  <a:srgbClr val="404040"/>
                </a:solidFill>
                <a:latin typeface="Times New Roman Condensed Bold"/>
                <a:ea typeface="Times New Roman Condensed Bold"/>
                <a:cs typeface="Times New Roman Condensed Bold"/>
                <a:sym typeface="Times New Roman Condensed Bold"/>
              </a:rPr>
              <a:t>EXPLORATORY DATA ANALYSIS</a:t>
            </a:r>
          </a:p>
        </p:txBody>
      </p:sp>
      <p:sp>
        <p:nvSpPr>
          <p:cNvPr id="59" name="TextBox 59"/>
          <p:cNvSpPr txBox="1"/>
          <p:nvPr/>
        </p:nvSpPr>
        <p:spPr>
          <a:xfrm>
            <a:off x="5423501" y="4880241"/>
            <a:ext cx="1410964" cy="307777"/>
          </a:xfrm>
          <a:prstGeom prst="rect">
            <a:avLst/>
          </a:prstGeom>
        </p:spPr>
        <p:txBody>
          <a:bodyPr lIns="0" tIns="0" rIns="0" bIns="0" rtlCol="0" anchor="t">
            <a:spAutoFit/>
          </a:bodyPr>
          <a:lstStyle/>
          <a:p>
            <a:pPr algn="ctr">
              <a:lnSpc>
                <a:spcPts val="1204"/>
              </a:lnSpc>
              <a:spcBef>
                <a:spcPct val="0"/>
              </a:spcBef>
            </a:pPr>
            <a:r>
              <a:rPr lang="en-US" sz="1125" b="1" spc="124">
                <a:solidFill>
                  <a:srgbClr val="404040"/>
                </a:solidFill>
                <a:latin typeface="Times New Roman Condensed Bold"/>
                <a:ea typeface="Times New Roman Condensed Bold"/>
                <a:cs typeface="Times New Roman Condensed Bold"/>
                <a:sym typeface="Times New Roman Condensed Bold"/>
              </a:rPr>
              <a:t>MODEL EVALUATION</a:t>
            </a:r>
          </a:p>
        </p:txBody>
      </p:sp>
      <p:sp>
        <p:nvSpPr>
          <p:cNvPr id="60" name="TextBox 60"/>
          <p:cNvSpPr txBox="1"/>
          <p:nvPr/>
        </p:nvSpPr>
        <p:spPr>
          <a:xfrm>
            <a:off x="3296056" y="4399425"/>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3</a:t>
            </a:r>
          </a:p>
        </p:txBody>
      </p:sp>
      <p:sp>
        <p:nvSpPr>
          <p:cNvPr id="61" name="TextBox 61"/>
          <p:cNvSpPr txBox="1"/>
          <p:nvPr/>
        </p:nvSpPr>
        <p:spPr>
          <a:xfrm>
            <a:off x="5985085" y="4399425"/>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4</a:t>
            </a:r>
          </a:p>
        </p:txBody>
      </p:sp>
      <p:sp>
        <p:nvSpPr>
          <p:cNvPr id="62" name="TextBox 62"/>
          <p:cNvSpPr txBox="1"/>
          <p:nvPr/>
        </p:nvSpPr>
        <p:spPr>
          <a:xfrm>
            <a:off x="8609070" y="1702778"/>
            <a:ext cx="288024" cy="272382"/>
          </a:xfrm>
          <a:prstGeom prst="rect">
            <a:avLst/>
          </a:prstGeom>
        </p:spPr>
        <p:txBody>
          <a:bodyPr lIns="0" tIns="0" rIns="0" bIns="0" rtlCol="0" anchor="t">
            <a:spAutoFit/>
          </a:bodyPr>
          <a:lstStyle/>
          <a:p>
            <a:pPr algn="ctr">
              <a:lnSpc>
                <a:spcPts val="2332"/>
              </a:lnSpc>
            </a:pPr>
            <a:r>
              <a:rPr lang="en-US" sz="1753" spc="192">
                <a:solidFill>
                  <a:srgbClr val="404040"/>
                </a:solidFill>
                <a:latin typeface="Inter"/>
                <a:ea typeface="Inter"/>
                <a:cs typeface="Inter"/>
                <a:sym typeface="Inter"/>
              </a:rPr>
              <a:t>7</a:t>
            </a:r>
          </a:p>
        </p:txBody>
      </p:sp>
      <p:pic>
        <p:nvPicPr>
          <p:cNvPr id="63" name="Picture 62">
            <a:extLst>
              <a:ext uri="{FF2B5EF4-FFF2-40B4-BE49-F238E27FC236}">
                <a16:creationId xmlns:a16="http://schemas.microsoft.com/office/drawing/2014/main" id="{F72B0651-CC72-B64D-0EF0-2F82DC43DFA1}"/>
              </a:ext>
            </a:extLst>
          </p:cNvPr>
          <p:cNvPicPr>
            <a:picLocks noChangeAspect="1"/>
          </p:cNvPicPr>
          <p:nvPr/>
        </p:nvPicPr>
        <p:blipFill>
          <a:blip r:embed="rId2"/>
          <a:stretch>
            <a:fillRect/>
          </a:stretch>
        </p:blipFill>
        <p:spPr>
          <a:xfrm>
            <a:off x="10405717" y="6394664"/>
            <a:ext cx="1786283" cy="463336"/>
          </a:xfrm>
          <a:prstGeom prst="rect">
            <a:avLst/>
          </a:prstGeom>
        </p:spPr>
      </p:pic>
      <p:sp>
        <p:nvSpPr>
          <p:cNvPr id="66" name="Slide Number Placeholder 4">
            <a:extLst>
              <a:ext uri="{FF2B5EF4-FFF2-40B4-BE49-F238E27FC236}">
                <a16:creationId xmlns:a16="http://schemas.microsoft.com/office/drawing/2014/main" id="{2442E38C-6CCB-3920-4DE7-46BC49ED930B}"/>
              </a:ext>
            </a:extLst>
          </p:cNvPr>
          <p:cNvSpPr txBox="1">
            <a:spLocks/>
          </p:cNvSpPr>
          <p:nvPr/>
        </p:nvSpPr>
        <p:spPr>
          <a:xfrm>
            <a:off x="11733408" y="6115264"/>
            <a:ext cx="458592"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z="1200" smtClean="0"/>
              <a:pPr/>
              <a:t>5</a:t>
            </a:fld>
            <a:endParaRPr lang="en-US" altLang="zh-CN" sz="1200" dirty="0"/>
          </a:p>
        </p:txBody>
      </p:sp>
      <p:sp>
        <p:nvSpPr>
          <p:cNvPr id="67" name="Footer Placeholder 7">
            <a:extLst>
              <a:ext uri="{FF2B5EF4-FFF2-40B4-BE49-F238E27FC236}">
                <a16:creationId xmlns:a16="http://schemas.microsoft.com/office/drawing/2014/main" id="{B1B88364-B42C-0B86-307B-F1DEC83F163A}"/>
              </a:ext>
            </a:extLst>
          </p:cNvPr>
          <p:cNvSpPr txBox="1">
            <a:spLocks/>
          </p:cNvSpPr>
          <p:nvPr/>
        </p:nvSpPr>
        <p:spPr>
          <a:xfrm>
            <a:off x="128476" y="6492875"/>
            <a:ext cx="248958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Breast Cancer Risk Prediction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F12C9D-3EB0-63A2-E6C8-517827C88877}"/>
              </a:ext>
            </a:extLst>
          </p:cNvPr>
          <p:cNvSpPr>
            <a:spLocks noGrp="1"/>
          </p:cNvSpPr>
          <p:nvPr>
            <p:ph type="body" sz="quarter" idx="32"/>
          </p:nvPr>
        </p:nvSpPr>
        <p:spPr>
          <a:xfrm>
            <a:off x="838200" y="2929822"/>
            <a:ext cx="1865376" cy="2464293"/>
          </a:xfrm>
        </p:spPr>
        <p:txBody>
          <a:bodyPr/>
          <a:lstStyle/>
          <a:p>
            <a:r>
              <a:rPr lang="en-US" sz="1400" dirty="0">
                <a:latin typeface="Times New Roman" panose="02020603050405020304" pitchFamily="18" charset="0"/>
                <a:cs typeface="Times New Roman" panose="02020603050405020304" pitchFamily="18" charset="0"/>
              </a:rPr>
              <a:t>We handle missing data through imputation techniques like mean or median for numerical features, and mode or  for categorical features, ensuring minimal distortion of patterns in the dataset. </a:t>
            </a:r>
            <a:endParaRPr lang="en-IN" sz="1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F64BBF5-6C3D-A771-4593-AC3F40FC9D6D}"/>
              </a:ext>
            </a:extLst>
          </p:cNvPr>
          <p:cNvSpPr>
            <a:spLocks noGrp="1"/>
          </p:cNvSpPr>
          <p:nvPr>
            <p:ph type="body" sz="quarter" idx="50"/>
          </p:nvPr>
        </p:nvSpPr>
        <p:spPr/>
        <p:txBody>
          <a:bodyPr/>
          <a:lstStyle/>
          <a:p>
            <a:r>
              <a:rPr lang="en-US" sz="1400" dirty="0">
                <a:latin typeface="Times New Roman" panose="02020603050405020304" pitchFamily="18" charset="0"/>
                <a:cs typeface="Times New Roman" panose="02020603050405020304" pitchFamily="18" charset="0"/>
              </a:rPr>
              <a:t>Identified and removed duplicate rows to avoid biased predictions.</a:t>
            </a:r>
            <a:endParaRPr lang="en-IN" sz="14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800A5D0-6437-C1E9-E326-C682FA33ED0A}"/>
              </a:ext>
            </a:extLst>
          </p:cNvPr>
          <p:cNvSpPr>
            <a:spLocks noGrp="1"/>
          </p:cNvSpPr>
          <p:nvPr>
            <p:ph type="body" sz="quarter" idx="51"/>
          </p:nvPr>
        </p:nvSpPr>
        <p:spPr/>
        <p:txBody>
          <a:bodyPr/>
          <a:lstStyle/>
          <a:p>
            <a:r>
              <a:rPr lang="en-US" sz="1400" dirty="0">
                <a:latin typeface="Times New Roman" panose="02020603050405020304" pitchFamily="18" charset="0"/>
                <a:cs typeface="Times New Roman" panose="02020603050405020304" pitchFamily="18" charset="0"/>
              </a:rPr>
              <a:t>Some numerical-looking columns were actually categorical, so they were converted into the appropriate data types.</a:t>
            </a:r>
          </a:p>
        </p:txBody>
      </p:sp>
      <p:sp>
        <p:nvSpPr>
          <p:cNvPr id="5" name="Text Placeholder 4">
            <a:extLst>
              <a:ext uri="{FF2B5EF4-FFF2-40B4-BE49-F238E27FC236}">
                <a16:creationId xmlns:a16="http://schemas.microsoft.com/office/drawing/2014/main" id="{58368455-5EF1-2DFF-8FBD-7D3C7E95147C}"/>
              </a:ext>
            </a:extLst>
          </p:cNvPr>
          <p:cNvSpPr>
            <a:spLocks noGrp="1"/>
          </p:cNvSpPr>
          <p:nvPr>
            <p:ph type="body" sz="quarter" idx="52"/>
          </p:nvPr>
        </p:nvSpPr>
        <p:spPr/>
        <p:txBody>
          <a:bodyPr/>
          <a:lstStyle/>
          <a:p>
            <a:r>
              <a:rPr lang="en-US" sz="1400" dirty="0">
                <a:latin typeface="Times New Roman" panose="02020603050405020304" pitchFamily="18" charset="0"/>
                <a:cs typeface="Times New Roman" panose="02020603050405020304" pitchFamily="18" charset="0"/>
              </a:rPr>
              <a:t>Converted categorical variables (e.g., hormone receptor status, tumor stage) into numerical values using one-hot encoding for machine learning models.</a:t>
            </a:r>
            <a:endParaRPr lang="en-IN" sz="1400"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339005F2-9738-803A-930E-FBC50B4D1737}"/>
              </a:ext>
            </a:extLst>
          </p:cNvPr>
          <p:cNvSpPr>
            <a:spLocks noGrp="1"/>
          </p:cNvSpPr>
          <p:nvPr>
            <p:ph type="body" sz="quarter" idx="53"/>
          </p:nvPr>
        </p:nvSpPr>
        <p:spPr/>
        <p:txBody>
          <a:bodyPr/>
          <a:lstStyle/>
          <a:p>
            <a:r>
              <a:rPr lang="en-US" sz="1400" dirty="0">
                <a:latin typeface="Times New Roman" panose="02020603050405020304" pitchFamily="18" charset="0"/>
                <a:cs typeface="Times New Roman" panose="02020603050405020304" pitchFamily="18" charset="0"/>
              </a:rPr>
              <a:t>Applied standardScaler or min-max scaling to ensure features are on a similar scale, improving model performance.</a:t>
            </a:r>
            <a:endParaRPr lang="en-IN" sz="1400"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B277AF54-6110-8B98-7F69-7EF40D664FD1}"/>
              </a:ext>
            </a:extLst>
          </p:cNvPr>
          <p:cNvSpPr>
            <a:spLocks noGrp="1"/>
          </p:cNvSpPr>
          <p:nvPr>
            <p:ph type="body" sz="quarter" idx="27"/>
          </p:nvPr>
        </p:nvSpPr>
        <p:spPr/>
        <p:txBody>
          <a:bodyPr/>
          <a:lstStyle/>
          <a:p>
            <a:r>
              <a:rPr lang="en-IN" u="sng" dirty="0">
                <a:latin typeface="Times New Roman"/>
                <a:cs typeface="Times New Roman"/>
              </a:rPr>
              <a:t>Handling</a:t>
            </a:r>
            <a:r>
              <a:rPr lang="en-IN" dirty="0">
                <a:latin typeface="Times New Roman" panose="02020603050405020304" pitchFamily="18" charset="0"/>
                <a:cs typeface="Times New Roman" panose="02020603050405020304" pitchFamily="18" charset="0"/>
              </a:rPr>
              <a:t> </a:t>
            </a:r>
            <a:r>
              <a:rPr lang="en-IN" u="sng" dirty="0">
                <a:latin typeface="Times New Roman"/>
                <a:cs typeface="Times New Roman"/>
              </a:rPr>
              <a:t>Missing</a:t>
            </a:r>
            <a:r>
              <a:rPr lang="en-IN" dirty="0">
                <a:latin typeface="Times New Roman" panose="02020603050405020304" pitchFamily="18" charset="0"/>
                <a:cs typeface="Times New Roman" panose="02020603050405020304" pitchFamily="18" charset="0"/>
              </a:rPr>
              <a:t> </a:t>
            </a:r>
            <a:r>
              <a:rPr lang="en-IN" u="sng" dirty="0">
                <a:latin typeface="Times New Roman"/>
                <a:cs typeface="Times New Roman"/>
              </a:rPr>
              <a:t>Values</a:t>
            </a:r>
          </a:p>
        </p:txBody>
      </p:sp>
      <p:sp>
        <p:nvSpPr>
          <p:cNvPr id="8" name="Title 7">
            <a:extLst>
              <a:ext uri="{FF2B5EF4-FFF2-40B4-BE49-F238E27FC236}">
                <a16:creationId xmlns:a16="http://schemas.microsoft.com/office/drawing/2014/main" id="{C827F599-35AA-36C2-2E70-7025E5C6FF22}"/>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DATA PREPROCESSING</a:t>
            </a:r>
          </a:p>
        </p:txBody>
      </p:sp>
      <p:sp>
        <p:nvSpPr>
          <p:cNvPr id="9" name="Text Placeholder 8">
            <a:extLst>
              <a:ext uri="{FF2B5EF4-FFF2-40B4-BE49-F238E27FC236}">
                <a16:creationId xmlns:a16="http://schemas.microsoft.com/office/drawing/2014/main" id="{B262C906-AA0E-D944-1761-F4885E86E01E}"/>
              </a:ext>
            </a:extLst>
          </p:cNvPr>
          <p:cNvSpPr>
            <a:spLocks noGrp="1"/>
          </p:cNvSpPr>
          <p:nvPr>
            <p:ph type="body" sz="quarter" idx="46"/>
          </p:nvPr>
        </p:nvSpPr>
        <p:spPr/>
        <p:txBody>
          <a:bodyPr/>
          <a:lstStyle/>
          <a:p>
            <a:r>
              <a:rPr lang="en-IN" u="sng" dirty="0">
                <a:latin typeface="Times New Roman" panose="02020603050405020304" pitchFamily="18" charset="0"/>
                <a:cs typeface="Times New Roman" panose="02020603050405020304" pitchFamily="18" charset="0"/>
              </a:rPr>
              <a:t>Removing Duplicates</a:t>
            </a:r>
          </a:p>
        </p:txBody>
      </p:sp>
      <p:sp>
        <p:nvSpPr>
          <p:cNvPr id="10" name="Text Placeholder 9">
            <a:extLst>
              <a:ext uri="{FF2B5EF4-FFF2-40B4-BE49-F238E27FC236}">
                <a16:creationId xmlns:a16="http://schemas.microsoft.com/office/drawing/2014/main" id="{1BDEAB66-D4DA-1A2C-031A-83314036ED7A}"/>
              </a:ext>
            </a:extLst>
          </p:cNvPr>
          <p:cNvSpPr>
            <a:spLocks noGrp="1"/>
          </p:cNvSpPr>
          <p:nvPr>
            <p:ph type="body" sz="quarter" idx="47"/>
          </p:nvPr>
        </p:nvSpPr>
        <p:spPr/>
        <p:txBody>
          <a:bodyPr/>
          <a:lstStyle/>
          <a:p>
            <a:r>
              <a:rPr lang="en-IN" u="sng" dirty="0">
                <a:latin typeface="Times New Roman" panose="02020603050405020304" pitchFamily="18" charset="0"/>
                <a:cs typeface="Times New Roman" panose="02020603050405020304" pitchFamily="18" charset="0"/>
              </a:rPr>
              <a:t>Data Type Conversion</a:t>
            </a:r>
          </a:p>
        </p:txBody>
      </p:sp>
      <p:sp>
        <p:nvSpPr>
          <p:cNvPr id="11" name="Text Placeholder 10">
            <a:extLst>
              <a:ext uri="{FF2B5EF4-FFF2-40B4-BE49-F238E27FC236}">
                <a16:creationId xmlns:a16="http://schemas.microsoft.com/office/drawing/2014/main" id="{993DEB4C-BD8B-C553-6B83-5CC738BCDE99}"/>
              </a:ext>
            </a:extLst>
          </p:cNvPr>
          <p:cNvSpPr>
            <a:spLocks noGrp="1"/>
          </p:cNvSpPr>
          <p:nvPr>
            <p:ph type="body" sz="quarter" idx="48"/>
          </p:nvPr>
        </p:nvSpPr>
        <p:spPr/>
        <p:txBody>
          <a:bodyPr/>
          <a:lstStyle/>
          <a:p>
            <a:r>
              <a:rPr lang="en-IN" u="sng" dirty="0">
                <a:latin typeface="Times New Roman" panose="02020603050405020304" pitchFamily="18" charset="0"/>
                <a:cs typeface="Times New Roman" panose="02020603050405020304" pitchFamily="18" charset="0"/>
              </a:rPr>
              <a:t>Feature Encoding</a:t>
            </a:r>
          </a:p>
        </p:txBody>
      </p:sp>
      <p:sp>
        <p:nvSpPr>
          <p:cNvPr id="12" name="Text Placeholder 11">
            <a:extLst>
              <a:ext uri="{FF2B5EF4-FFF2-40B4-BE49-F238E27FC236}">
                <a16:creationId xmlns:a16="http://schemas.microsoft.com/office/drawing/2014/main" id="{06ECE62A-C2D1-8BAE-083D-5D6E75F237AD}"/>
              </a:ext>
            </a:extLst>
          </p:cNvPr>
          <p:cNvSpPr>
            <a:spLocks noGrp="1"/>
          </p:cNvSpPr>
          <p:nvPr>
            <p:ph type="body" sz="quarter" idx="49"/>
          </p:nvPr>
        </p:nvSpPr>
        <p:spPr/>
        <p:txBody>
          <a:bodyPr/>
          <a:lstStyle/>
          <a:p>
            <a:r>
              <a:rPr lang="en-IN" u="sng" dirty="0">
                <a:latin typeface="Times New Roman" panose="02020603050405020304" pitchFamily="18" charset="0"/>
                <a:cs typeface="Times New Roman" panose="02020603050405020304" pitchFamily="18" charset="0"/>
              </a:rPr>
              <a:t>Feature Scaling</a:t>
            </a:r>
          </a:p>
        </p:txBody>
      </p:sp>
      <p:sp>
        <p:nvSpPr>
          <p:cNvPr id="14" name="Slide Number Placeholder 13">
            <a:extLst>
              <a:ext uri="{FF2B5EF4-FFF2-40B4-BE49-F238E27FC236}">
                <a16:creationId xmlns:a16="http://schemas.microsoft.com/office/drawing/2014/main" id="{668C12E3-E1BE-D4BD-220B-E3C0F9D5CBB4}"/>
              </a:ext>
            </a:extLst>
          </p:cNvPr>
          <p:cNvSpPr>
            <a:spLocks noGrp="1"/>
          </p:cNvSpPr>
          <p:nvPr>
            <p:ph type="sldNum" sz="quarter" idx="55"/>
          </p:nvPr>
        </p:nvSpPr>
        <p:spPr>
          <a:xfrm>
            <a:off x="11478072" y="6128272"/>
            <a:ext cx="458592" cy="365125"/>
          </a:xfrm>
        </p:spPr>
        <p:txBody>
          <a:bodyPr/>
          <a:lstStyle/>
          <a:p>
            <a:fld id="{47FEACEE-25B4-4A2D-B147-27296E36371D}" type="slidenum">
              <a:rPr lang="en-US" altLang="zh-CN" noProof="0" smtClean="0"/>
              <a:pPr/>
              <a:t>6</a:t>
            </a:fld>
            <a:endParaRPr lang="en-US" altLang="zh-CN" noProof="0" dirty="0"/>
          </a:p>
        </p:txBody>
      </p:sp>
      <p:pic>
        <p:nvPicPr>
          <p:cNvPr id="15" name="Picture 14">
            <a:extLst>
              <a:ext uri="{FF2B5EF4-FFF2-40B4-BE49-F238E27FC236}">
                <a16:creationId xmlns:a16="http://schemas.microsoft.com/office/drawing/2014/main" id="{9DED1361-5099-0812-66D9-692646C6D6A6}"/>
              </a:ext>
            </a:extLst>
          </p:cNvPr>
          <p:cNvPicPr>
            <a:picLocks noChangeAspect="1"/>
          </p:cNvPicPr>
          <p:nvPr/>
        </p:nvPicPr>
        <p:blipFill>
          <a:blip r:embed="rId2"/>
          <a:stretch>
            <a:fillRect/>
          </a:stretch>
        </p:blipFill>
        <p:spPr>
          <a:xfrm>
            <a:off x="10460658" y="6400482"/>
            <a:ext cx="1786283" cy="463336"/>
          </a:xfrm>
          <a:prstGeom prst="rect">
            <a:avLst/>
          </a:prstGeom>
        </p:spPr>
      </p:pic>
      <p:sp>
        <p:nvSpPr>
          <p:cNvPr id="16" name="Footer Placeholder 7">
            <a:extLst>
              <a:ext uri="{FF2B5EF4-FFF2-40B4-BE49-F238E27FC236}">
                <a16:creationId xmlns:a16="http://schemas.microsoft.com/office/drawing/2014/main" id="{6B311B86-0C39-E9FF-6A5D-B8EA20EBE452}"/>
              </a:ext>
            </a:extLst>
          </p:cNvPr>
          <p:cNvSpPr txBox="1">
            <a:spLocks/>
          </p:cNvSpPr>
          <p:nvPr/>
        </p:nvSpPr>
        <p:spPr>
          <a:xfrm>
            <a:off x="252463" y="6449587"/>
            <a:ext cx="411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latin typeface="Times New Roman" panose="02020603050405020304" pitchFamily="18" charset="0"/>
                <a:cs typeface="Times New Roman" panose="02020603050405020304" pitchFamily="18" charset="0"/>
              </a:rPr>
              <a:t>Breast Cancer Risk Prediction</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60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4B1921-6D9A-CA99-4A41-8161CC7659A8}"/>
              </a:ext>
            </a:extLst>
          </p:cNvPr>
          <p:cNvSpPr>
            <a:spLocks noGrp="1"/>
          </p:cNvSpPr>
          <p:nvPr>
            <p:ph type="sldNum" sz="quarter" idx="12"/>
          </p:nvPr>
        </p:nvSpPr>
        <p:spPr>
          <a:xfrm>
            <a:off x="11637492" y="6038468"/>
            <a:ext cx="458592" cy="365125"/>
          </a:xfrm>
        </p:spPr>
        <p:txBody>
          <a:bodyPr/>
          <a:lstStyle/>
          <a:p>
            <a:fld id="{FEFB1823-63EE-423F-9C0B-A09E9E56188F}" type="slidenum">
              <a:rPr lang="en-IN" smtClean="0"/>
              <a:t>7</a:t>
            </a:fld>
            <a:endParaRPr lang="en-IN" dirty="0"/>
          </a:p>
        </p:txBody>
      </p:sp>
      <p:sp>
        <p:nvSpPr>
          <p:cNvPr id="4" name="TextBox 3">
            <a:extLst>
              <a:ext uri="{FF2B5EF4-FFF2-40B4-BE49-F238E27FC236}">
                <a16:creationId xmlns:a16="http://schemas.microsoft.com/office/drawing/2014/main" id="{C1B8C8BB-D6EA-F864-B684-C69388E35A3B}"/>
              </a:ext>
            </a:extLst>
          </p:cNvPr>
          <p:cNvSpPr txBox="1"/>
          <p:nvPr/>
        </p:nvSpPr>
        <p:spPr>
          <a:xfrm>
            <a:off x="452285" y="158875"/>
            <a:ext cx="7020550" cy="769441"/>
          </a:xfrm>
          <a:prstGeom prst="rect">
            <a:avLst/>
          </a:prstGeom>
        </p:spPr>
        <p:txBody>
          <a:bodyPr wrap="square" rtlCol="0">
            <a:spAutoFit/>
          </a:bodyPr>
          <a:lstStyle/>
          <a:p>
            <a:pPr marL="0" indent="0" algn="ctr">
              <a:lnSpc>
                <a:spcPct val="100000"/>
              </a:lnSpc>
              <a:spcBef>
                <a:spcPts val="0"/>
              </a:spcBef>
              <a:buFontTx/>
              <a:buNone/>
            </a:pPr>
            <a:r>
              <a:rPr lang="en-IN" sz="4400" b="1" dirty="0">
                <a:solidFill>
                  <a:schemeClr val="accent6"/>
                </a:solidFill>
                <a:latin typeface="Times New Roman" panose="02020603050405020304" pitchFamily="18" charset="0"/>
                <a:ea typeface="+mj-ea"/>
                <a:cs typeface="Times New Roman" panose="02020603050405020304" pitchFamily="18" charset="0"/>
              </a:rPr>
              <a:t>Exploratory</a:t>
            </a:r>
            <a:r>
              <a:rPr lang="en-IN" sz="4400" b="1" dirty="0">
                <a:latin typeface="Times New Roman" panose="02020603050405020304" pitchFamily="18" charset="0"/>
                <a:ea typeface="微软雅黑"/>
                <a:cs typeface="Times New Roman" panose="02020603050405020304" pitchFamily="18" charset="0"/>
              </a:rPr>
              <a:t> Data Analysis</a:t>
            </a:r>
          </a:p>
        </p:txBody>
      </p:sp>
      <p:sp>
        <p:nvSpPr>
          <p:cNvPr id="7" name="TextBox 6">
            <a:extLst>
              <a:ext uri="{FF2B5EF4-FFF2-40B4-BE49-F238E27FC236}">
                <a16:creationId xmlns:a16="http://schemas.microsoft.com/office/drawing/2014/main" id="{49B2C8B9-553A-61B3-087E-94E2014BEE2C}"/>
              </a:ext>
            </a:extLst>
          </p:cNvPr>
          <p:cNvSpPr txBox="1"/>
          <p:nvPr/>
        </p:nvSpPr>
        <p:spPr>
          <a:xfrm>
            <a:off x="484632" y="1143758"/>
            <a:ext cx="6955856" cy="5170646"/>
          </a:xfrm>
          <a:prstGeom prst="rect">
            <a:avLst/>
          </a:prstGeom>
        </p:spPr>
        <p:txBody>
          <a:bodyPr wrap="square" rtlCol="0">
            <a:spAutoFit/>
          </a:bodyPr>
          <a:lstStyle/>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Exploratory Data Analysis (EDA) is the process of analyzing and visualizing a dataset to understand its key characteristics before applying machine learning models. It helps identify patterns, trends, missing values, outliers, and relationships between variables.</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Using visuals helped us see the data clearly, understand the clinical data relationship with each other, and pinpoint factors that plays vital role in predictions of Breast Cancer disease.</a:t>
            </a:r>
          </a:p>
          <a:p>
            <a:pPr marL="342900" indent="-342900" algn="just">
              <a:lnSpc>
                <a:spcPct val="100000"/>
              </a:lnSpc>
              <a:spcBef>
                <a:spcPts val="0"/>
              </a:spcBef>
              <a:buFont typeface="+mj-lt"/>
              <a:buAutoNum type="arabicPeriod"/>
            </a:pPr>
            <a:endParaRPr lang="en-IN"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Insights from EDA help you decide which features are most important for building models and how to prepare them to improve performance.</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Some features may be closely related to each other. We use a heatmap to check for strong connections between variables. If two features provide similar information, we may remove one to avoid redundancy.</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Univariate analysis looks at one feature at a time to understand its distribution using simple statistics and graphs like histograms and bar charts. </a:t>
            </a:r>
          </a:p>
          <a:p>
            <a:pPr marL="342900" indent="-342900" algn="just">
              <a:lnSpc>
                <a:spcPct val="100000"/>
              </a:lnSpc>
              <a:spcBef>
                <a:spcPts val="0"/>
              </a:spcBef>
              <a:buFont typeface="+mj-lt"/>
              <a:buAutoNum type="arabicPeriod"/>
            </a:pPr>
            <a:endParaRPr lang="en-US" sz="11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mj-lt"/>
              <a:buAutoNum type="arabicPeriod"/>
            </a:pPr>
            <a:r>
              <a:rPr lang="en-US" sz="1500" dirty="0">
                <a:latin typeface="Times New Roman" panose="02020603050405020304" pitchFamily="18" charset="0"/>
                <a:ea typeface="微软雅黑"/>
                <a:cs typeface="Times New Roman" panose="02020603050405020304" pitchFamily="18" charset="0"/>
              </a:rPr>
              <a:t>Bivariate analysis examines the relationship between two variables and graph like scatter plots, pair plots. This helps us find important factors that may affect predictions.</a:t>
            </a:r>
          </a:p>
          <a:p>
            <a:pPr marL="0" indent="0" algn="just">
              <a:lnSpc>
                <a:spcPct val="100000"/>
              </a:lnSpc>
              <a:spcBef>
                <a:spcPts val="0"/>
              </a:spcBef>
              <a:buFontTx/>
              <a:buNone/>
            </a:pPr>
            <a:endParaRPr lang="en-IN" sz="1500" dirty="0">
              <a:latin typeface="Times New Roman" panose="02020603050405020304" pitchFamily="18" charset="0"/>
              <a:ea typeface="微软雅黑"/>
              <a:cs typeface="Times New Roman" panose="02020603050405020304" pitchFamily="18" charset="0"/>
            </a:endParaRPr>
          </a:p>
        </p:txBody>
      </p:sp>
      <p:sp>
        <p:nvSpPr>
          <p:cNvPr id="10" name="Footer Placeholder 7">
            <a:extLst>
              <a:ext uri="{FF2B5EF4-FFF2-40B4-BE49-F238E27FC236}">
                <a16:creationId xmlns:a16="http://schemas.microsoft.com/office/drawing/2014/main" id="{8941BEB6-9130-ECED-9F1E-A10EBD642123}"/>
              </a:ext>
            </a:extLst>
          </p:cNvPr>
          <p:cNvSpPr txBox="1">
            <a:spLocks noGrp="1"/>
          </p:cNvSpPr>
          <p:nvPr>
            <p:ph type="ftr" sz="quarter" idx="11"/>
          </p:nvPr>
        </p:nvSpPr>
        <p:spPr>
          <a:xfrm>
            <a:off x="152938" y="6459809"/>
            <a:ext cx="411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Breast Cancer Risk Prediction</a:t>
            </a:r>
          </a:p>
        </p:txBody>
      </p:sp>
      <p:pic>
        <p:nvPicPr>
          <p:cNvPr id="11" name="Picture 10">
            <a:extLst>
              <a:ext uri="{FF2B5EF4-FFF2-40B4-BE49-F238E27FC236}">
                <a16:creationId xmlns:a16="http://schemas.microsoft.com/office/drawing/2014/main" id="{D6408CD7-B90E-7015-3FB0-7858AA93C0A9}"/>
              </a:ext>
            </a:extLst>
          </p:cNvPr>
          <p:cNvPicPr>
            <a:picLocks noChangeAspect="1"/>
          </p:cNvPicPr>
          <p:nvPr/>
        </p:nvPicPr>
        <p:blipFill>
          <a:blip r:embed="rId2"/>
          <a:stretch>
            <a:fillRect/>
          </a:stretch>
        </p:blipFill>
        <p:spPr>
          <a:xfrm>
            <a:off x="10405717" y="6385680"/>
            <a:ext cx="1786283" cy="463336"/>
          </a:xfrm>
          <a:prstGeom prst="rect">
            <a:avLst/>
          </a:prstGeom>
        </p:spPr>
      </p:pic>
      <p:pic>
        <p:nvPicPr>
          <p:cNvPr id="21" name="Picture 20">
            <a:extLst>
              <a:ext uri="{FF2B5EF4-FFF2-40B4-BE49-F238E27FC236}">
                <a16:creationId xmlns:a16="http://schemas.microsoft.com/office/drawing/2014/main" id="{198116E5-F335-42A2-5DC1-D1174CBE397C}"/>
              </a:ext>
            </a:extLst>
          </p:cNvPr>
          <p:cNvPicPr>
            <a:picLocks noChangeAspect="1"/>
          </p:cNvPicPr>
          <p:nvPr/>
        </p:nvPicPr>
        <p:blipFill>
          <a:blip r:embed="rId3"/>
          <a:stretch>
            <a:fillRect/>
          </a:stretch>
        </p:blipFill>
        <p:spPr>
          <a:xfrm>
            <a:off x="7626571" y="3490982"/>
            <a:ext cx="4469511" cy="2620304"/>
          </a:xfrm>
          <a:prstGeom prst="rect">
            <a:avLst/>
          </a:prstGeom>
        </p:spPr>
      </p:pic>
      <p:pic>
        <p:nvPicPr>
          <p:cNvPr id="25" name="Picture 24">
            <a:extLst>
              <a:ext uri="{FF2B5EF4-FFF2-40B4-BE49-F238E27FC236}">
                <a16:creationId xmlns:a16="http://schemas.microsoft.com/office/drawing/2014/main" id="{3C134F1C-BDA7-A438-5670-4FEE02931FB4}"/>
              </a:ext>
            </a:extLst>
          </p:cNvPr>
          <p:cNvPicPr>
            <a:picLocks noChangeAspect="1"/>
          </p:cNvPicPr>
          <p:nvPr/>
        </p:nvPicPr>
        <p:blipFill>
          <a:blip r:embed="rId4"/>
          <a:stretch>
            <a:fillRect/>
          </a:stretch>
        </p:blipFill>
        <p:spPr>
          <a:xfrm>
            <a:off x="7801048" y="865117"/>
            <a:ext cx="4120559" cy="2392583"/>
          </a:xfrm>
          <a:prstGeom prst="rect">
            <a:avLst/>
          </a:prstGeom>
        </p:spPr>
      </p:pic>
    </p:spTree>
    <p:extLst>
      <p:ext uri="{BB962C8B-B14F-4D97-AF65-F5344CB8AC3E}">
        <p14:creationId xmlns:p14="http://schemas.microsoft.com/office/powerpoint/2010/main" val="1452112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12E3336-8174-9814-8067-EE3C1CB214F9}"/>
              </a:ext>
            </a:extLst>
          </p:cNvPr>
          <p:cNvSpPr>
            <a:spLocks noGrp="1"/>
          </p:cNvSpPr>
          <p:nvPr>
            <p:ph type="ftr" sz="quarter" idx="11"/>
          </p:nvPr>
        </p:nvSpPr>
        <p:spPr>
          <a:xfrm>
            <a:off x="621292" y="4149081"/>
            <a:ext cx="5126639" cy="2353118"/>
          </a:xfrm>
        </p:spPr>
        <p:txBody>
          <a:bodyPr/>
          <a:lstStyle/>
          <a:p>
            <a:pPr marL="285750" indent="-285750" algn="just">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Living (837 patients, 42.3%): </a:t>
            </a:r>
            <a:r>
              <a:rPr lang="en-US" sz="1300" dirty="0">
                <a:latin typeface="Times New Roman" panose="02020603050405020304" pitchFamily="18" charset="0"/>
                <a:cs typeface="Times New Roman" panose="02020603050405020304" pitchFamily="18" charset="0"/>
              </a:rPr>
              <a:t>The majority of patients are alive. This indicates a relatively positive outcome in the dataset.</a:t>
            </a:r>
          </a:p>
          <a:p>
            <a:pPr marL="285750" indent="-285750" algn="just">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Died of Disease (646 patients, 32.6%): </a:t>
            </a:r>
            <a:r>
              <a:rPr lang="en-US" sz="1300" dirty="0">
                <a:latin typeface="Times New Roman" panose="02020603050405020304" pitchFamily="18" charset="0"/>
                <a:cs typeface="Times New Roman" panose="02020603050405020304" pitchFamily="18" charset="0"/>
              </a:rPr>
              <a:t>Over one-third of patients lost their lives to the disease.</a:t>
            </a:r>
          </a:p>
          <a:p>
            <a:pPr marL="285750" indent="-285750" algn="just">
              <a:buFont typeface="Arial" panose="020B0604020202020204" pitchFamily="34" charset="0"/>
              <a:buChar char="•"/>
            </a:pPr>
            <a:endParaRPr lang="en-US" sz="13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300" b="1" dirty="0">
                <a:latin typeface="Times New Roman" panose="02020603050405020304" pitchFamily="18" charset="0"/>
                <a:cs typeface="Times New Roman" panose="02020603050405020304" pitchFamily="18" charset="0"/>
              </a:rPr>
              <a:t>Died of Other Causes (496 patients, 25.1%):</a:t>
            </a:r>
            <a:r>
              <a:rPr lang="en-US" sz="1300" dirty="0">
                <a:latin typeface="Times New Roman" panose="02020603050405020304" pitchFamily="18" charset="0"/>
                <a:cs typeface="Times New Roman" panose="02020603050405020304" pitchFamily="18" charset="0"/>
              </a:rPr>
              <a:t> Around one-fourth of patients passed away due to other causes, indicating the potential impact of unrelated health factors. </a:t>
            </a:r>
            <a:endParaRPr lang="en-IN" sz="1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1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13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994059F-8EE6-C131-CB5E-8971A7945631}"/>
              </a:ext>
            </a:extLst>
          </p:cNvPr>
          <p:cNvSpPr>
            <a:spLocks noGrp="1"/>
          </p:cNvSpPr>
          <p:nvPr>
            <p:ph type="sldNum" sz="quarter" idx="12"/>
          </p:nvPr>
        </p:nvSpPr>
        <p:spPr>
          <a:xfrm>
            <a:off x="11783410" y="6481368"/>
            <a:ext cx="458592" cy="365125"/>
          </a:xfrm>
        </p:spPr>
        <p:txBody>
          <a:bodyPr/>
          <a:lstStyle/>
          <a:p>
            <a:fld id="{FEFB1823-63EE-423F-9C0B-A09E9E56188F}" type="slidenum">
              <a:rPr lang="en-IN" smtClean="0"/>
              <a:t>8</a:t>
            </a:fld>
            <a:endParaRPr lang="en-IN" dirty="0"/>
          </a:p>
        </p:txBody>
      </p:sp>
      <p:pic>
        <p:nvPicPr>
          <p:cNvPr id="6" name="Picture 5">
            <a:extLst>
              <a:ext uri="{FF2B5EF4-FFF2-40B4-BE49-F238E27FC236}">
                <a16:creationId xmlns:a16="http://schemas.microsoft.com/office/drawing/2014/main" id="{E3629C91-E9D3-AC72-92A6-738658A67B0E}"/>
              </a:ext>
            </a:extLst>
          </p:cNvPr>
          <p:cNvPicPr>
            <a:picLocks noChangeAspect="1"/>
          </p:cNvPicPr>
          <p:nvPr/>
        </p:nvPicPr>
        <p:blipFill>
          <a:blip r:embed="rId2"/>
          <a:stretch>
            <a:fillRect/>
          </a:stretch>
        </p:blipFill>
        <p:spPr>
          <a:xfrm>
            <a:off x="655596" y="797859"/>
            <a:ext cx="5126639" cy="3110753"/>
          </a:xfrm>
          <a:prstGeom prst="rect">
            <a:avLst/>
          </a:prstGeom>
          <a:ln w="6350">
            <a:solidFill>
              <a:schemeClr val="tx1"/>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C23C6F6E-30E9-629C-B85D-5A886287345C}"/>
              </a:ext>
            </a:extLst>
          </p:cNvPr>
          <p:cNvPicPr>
            <a:picLocks noChangeAspect="1"/>
          </p:cNvPicPr>
          <p:nvPr/>
        </p:nvPicPr>
        <p:blipFill>
          <a:blip r:embed="rId3"/>
          <a:stretch>
            <a:fillRect/>
          </a:stretch>
        </p:blipFill>
        <p:spPr>
          <a:xfrm>
            <a:off x="7018350" y="759850"/>
            <a:ext cx="4733365" cy="3110753"/>
          </a:xfrm>
          <a:prstGeom prst="rect">
            <a:avLst/>
          </a:prstGeom>
          <a:ln w="6350">
            <a:solidFill>
              <a:schemeClr val="tx1"/>
            </a:solidFill>
          </a:ln>
          <a:effectLst>
            <a:outerShdw blurRad="50800" dist="38100" dir="2700000" algn="tl" rotWithShape="0">
              <a:prstClr val="black">
                <a:alpha val="40000"/>
              </a:prstClr>
            </a:outerShdw>
          </a:effectLst>
        </p:spPr>
      </p:pic>
      <p:pic>
        <p:nvPicPr>
          <p:cNvPr id="24" name="Picture 23">
            <a:extLst>
              <a:ext uri="{FF2B5EF4-FFF2-40B4-BE49-F238E27FC236}">
                <a16:creationId xmlns:a16="http://schemas.microsoft.com/office/drawing/2014/main" id="{D4FFE17F-6313-3700-1ED6-F696142BF9ED}"/>
              </a:ext>
            </a:extLst>
          </p:cNvPr>
          <p:cNvPicPr>
            <a:picLocks noChangeAspect="1"/>
          </p:cNvPicPr>
          <p:nvPr/>
        </p:nvPicPr>
        <p:blipFill>
          <a:blip r:embed="rId4"/>
          <a:stretch>
            <a:fillRect/>
          </a:stretch>
        </p:blipFill>
        <p:spPr>
          <a:xfrm>
            <a:off x="10132053" y="6432263"/>
            <a:ext cx="1786283" cy="463336"/>
          </a:xfrm>
          <a:prstGeom prst="rect">
            <a:avLst/>
          </a:prstGeom>
        </p:spPr>
      </p:pic>
      <p:sp>
        <p:nvSpPr>
          <p:cNvPr id="29" name="TextBox 28">
            <a:extLst>
              <a:ext uri="{FF2B5EF4-FFF2-40B4-BE49-F238E27FC236}">
                <a16:creationId xmlns:a16="http://schemas.microsoft.com/office/drawing/2014/main" id="{ACD9FA8B-11D4-0757-587A-8F387162803E}"/>
              </a:ext>
            </a:extLst>
          </p:cNvPr>
          <p:cNvSpPr txBox="1"/>
          <p:nvPr/>
        </p:nvSpPr>
        <p:spPr>
          <a:xfrm>
            <a:off x="440285" y="251011"/>
            <a:ext cx="5655715" cy="646331"/>
          </a:xfrm>
          <a:prstGeom prst="rect">
            <a:avLst/>
          </a:prstGeom>
        </p:spPr>
        <p:txBody>
          <a:bodyPr wrap="none" rtlCol="0">
            <a:spAutoFit/>
          </a:bodyPr>
          <a:lstStyle/>
          <a:p>
            <a:pPr marL="0" indent="0" algn="ctr">
              <a:lnSpc>
                <a:spcPct val="100000"/>
              </a:lnSpc>
              <a:spcBef>
                <a:spcPts val="0"/>
              </a:spcBef>
              <a:buFontTx/>
              <a:buNone/>
            </a:pPr>
            <a:r>
              <a:rPr lang="en-IN" dirty="0">
                <a:latin typeface="Posterama" panose="020B0504020200020000" pitchFamily="34" charset="0"/>
                <a:ea typeface="微软雅黑"/>
                <a:cs typeface="Posterama" panose="020B0504020200020000" pitchFamily="34" charset="0"/>
              </a:rPr>
              <a:t>Distribution and Percentage of Patients Vital Status</a:t>
            </a:r>
          </a:p>
          <a:p>
            <a:pPr marL="0" indent="0" algn="ctr">
              <a:lnSpc>
                <a:spcPct val="100000"/>
              </a:lnSpc>
              <a:spcBef>
                <a:spcPts val="0"/>
              </a:spcBef>
              <a:buFontTx/>
              <a:buNone/>
            </a:pPr>
            <a:endParaRPr lang="en-IN" sz="1800" dirty="0">
              <a:latin typeface="Posterama" panose="020B0504020200020000" pitchFamily="34" charset="0"/>
              <a:ea typeface="微软雅黑"/>
              <a:cs typeface="Posterama" panose="020B0504020200020000" pitchFamily="34" charset="0"/>
            </a:endParaRPr>
          </a:p>
        </p:txBody>
      </p:sp>
      <p:sp>
        <p:nvSpPr>
          <p:cNvPr id="30" name="TextBox 29">
            <a:extLst>
              <a:ext uri="{FF2B5EF4-FFF2-40B4-BE49-F238E27FC236}">
                <a16:creationId xmlns:a16="http://schemas.microsoft.com/office/drawing/2014/main" id="{03C215E0-3A81-3817-F91E-A07705F2E279}"/>
              </a:ext>
            </a:extLst>
          </p:cNvPr>
          <p:cNvSpPr txBox="1"/>
          <p:nvPr/>
        </p:nvSpPr>
        <p:spPr>
          <a:xfrm>
            <a:off x="7356271" y="231737"/>
            <a:ext cx="4057522" cy="369332"/>
          </a:xfrm>
          <a:prstGeom prst="rect">
            <a:avLst/>
          </a:prstGeom>
        </p:spPr>
        <p:txBody>
          <a:bodyPr wrap="none" rtlCol="0">
            <a:spAutoFit/>
          </a:bodyPr>
          <a:lstStyle/>
          <a:p>
            <a:pPr marL="0" indent="0" algn="ctr">
              <a:lnSpc>
                <a:spcPct val="100000"/>
              </a:lnSpc>
              <a:spcBef>
                <a:spcPts val="0"/>
              </a:spcBef>
              <a:buFontTx/>
              <a:buNone/>
            </a:pPr>
            <a:r>
              <a:rPr lang="en-IN" sz="1800" dirty="0">
                <a:latin typeface="Posterama" panose="020B0504020200020000" pitchFamily="34" charset="0"/>
                <a:ea typeface="微软雅黑"/>
                <a:cs typeface="Posterama" panose="020B0504020200020000" pitchFamily="34" charset="0"/>
              </a:rPr>
              <a:t>Percentage of Cancer Type Detailed</a:t>
            </a:r>
          </a:p>
        </p:txBody>
      </p:sp>
      <p:cxnSp>
        <p:nvCxnSpPr>
          <p:cNvPr id="32" name="Straight Connector 31">
            <a:extLst>
              <a:ext uri="{FF2B5EF4-FFF2-40B4-BE49-F238E27FC236}">
                <a16:creationId xmlns:a16="http://schemas.microsoft.com/office/drawing/2014/main" id="{1DA2D0D1-B5EB-BC8C-7096-60E16B503FAA}"/>
              </a:ext>
            </a:extLst>
          </p:cNvPr>
          <p:cNvCxnSpPr>
            <a:cxnSpLocks/>
          </p:cNvCxnSpPr>
          <p:nvPr/>
        </p:nvCxnSpPr>
        <p:spPr>
          <a:xfrm>
            <a:off x="6409767" y="0"/>
            <a:ext cx="80680" cy="7010400"/>
          </a:xfrm>
          <a:prstGeom prst="line">
            <a:avLst/>
          </a:prstGeom>
          <a:ln w="9525"/>
        </p:spPr>
        <p:style>
          <a:lnRef idx="1">
            <a:schemeClr val="dk1"/>
          </a:lnRef>
          <a:fillRef idx="0">
            <a:schemeClr val="dk1"/>
          </a:fillRef>
          <a:effectRef idx="0">
            <a:schemeClr val="dk1"/>
          </a:effectRef>
          <a:fontRef idx="minor">
            <a:schemeClr val="tx1"/>
          </a:fontRef>
        </p:style>
      </p:cxnSp>
      <p:sp>
        <p:nvSpPr>
          <p:cNvPr id="5" name="Rectangle 1">
            <a:extLst>
              <a:ext uri="{FF2B5EF4-FFF2-40B4-BE49-F238E27FC236}">
                <a16:creationId xmlns:a16="http://schemas.microsoft.com/office/drawing/2014/main" id="{29DB091F-1D61-B8C7-EA10-5442EC5B945D}"/>
              </a:ext>
            </a:extLst>
          </p:cNvPr>
          <p:cNvSpPr>
            <a:spLocks noChangeArrowheads="1"/>
          </p:cNvSpPr>
          <p:nvPr/>
        </p:nvSpPr>
        <p:spPr bwMode="auto">
          <a:xfrm>
            <a:off x="7018350" y="4009209"/>
            <a:ext cx="4765060"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 Cancer Types</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bar graph shows the percentage distribution of patients by detailed cancer type. The tallest bars indicate the most common cancer types in the dataset.</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Insights</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distribution highlights the most and least common cancer types, providing guidance for targeted research or specialized care. A dominant cancer type may require focused attention or resources.</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Rare Cancer Types</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Shorter bars represent less common cancer types, which may require further investigation due to their unique challenges or treatment needs. </a:t>
            </a:r>
          </a:p>
        </p:txBody>
      </p:sp>
    </p:spTree>
    <p:extLst>
      <p:ext uri="{BB962C8B-B14F-4D97-AF65-F5344CB8AC3E}">
        <p14:creationId xmlns:p14="http://schemas.microsoft.com/office/powerpoint/2010/main" val="4136179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0157F6-77F3-FAFA-95BF-E0926C66A324}"/>
              </a:ext>
            </a:extLst>
          </p:cNvPr>
          <p:cNvSpPr>
            <a:spLocks noGrp="1"/>
          </p:cNvSpPr>
          <p:nvPr>
            <p:ph type="ftr" sz="quarter" idx="11"/>
          </p:nvPr>
        </p:nvSpPr>
        <p:spPr>
          <a:xfrm>
            <a:off x="7972510" y="1015783"/>
            <a:ext cx="4114800" cy="4051992"/>
          </a:xfrm>
        </p:spPr>
        <p:txBody>
          <a:bodyPr/>
          <a:lstStyle/>
          <a:p>
            <a:pPr marL="342900" indent="-342900" algn="just">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Patients with longer survival durations are primarily in the "Living" category, as indicated by the higher frequency of green bars on the right.  </a:t>
            </a:r>
          </a:p>
          <a:p>
            <a:pPr marL="342900" indent="-342900" algn="just">
              <a:buFont typeface="Courier New" panose="02070309020205020404" pitchFamily="49" charset="0"/>
              <a:buChar char="o"/>
            </a:pPr>
            <a:endParaRPr lang="en-US" sz="1600" dirty="0">
              <a:latin typeface="Times New Roman" panose="02020603050405020304" pitchFamily="18" charset="0"/>
              <a:cs typeface="Times New Roman" panose="02020603050405020304" pitchFamily="18" charset="0"/>
            </a:endParaRPr>
          </a:p>
          <a:p>
            <a:pPr marL="342900" indent="-342900" algn="just">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Patients who "Died of Disease" are concentrated in shorter survival durations, seen on the left of the graph.  </a:t>
            </a:r>
          </a:p>
          <a:p>
            <a:pPr marL="342900" indent="-342900" algn="just">
              <a:buFont typeface="Courier New" panose="02070309020205020404" pitchFamily="49" charset="0"/>
              <a:buChar char="o"/>
            </a:pPr>
            <a:endParaRPr lang="en-US" sz="1600" dirty="0">
              <a:latin typeface="Times New Roman" panose="02020603050405020304" pitchFamily="18" charset="0"/>
              <a:cs typeface="Times New Roman" panose="02020603050405020304" pitchFamily="18" charset="0"/>
            </a:endParaRPr>
          </a:p>
          <a:p>
            <a:pPr marL="342900" indent="-342900" algn="just">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A consistent but smaller distribution of those "Died of Other Causes" is observed across all survival durations. </a:t>
            </a:r>
            <a:endParaRPr lang="en-IN" sz="16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2459A44-915E-ACE0-5D9C-196DED1AC09C}"/>
              </a:ext>
            </a:extLst>
          </p:cNvPr>
          <p:cNvSpPr>
            <a:spLocks noGrp="1"/>
          </p:cNvSpPr>
          <p:nvPr>
            <p:ph type="sldNum" sz="quarter" idx="12"/>
          </p:nvPr>
        </p:nvSpPr>
        <p:spPr>
          <a:xfrm>
            <a:off x="11628718" y="6035357"/>
            <a:ext cx="458592" cy="365125"/>
          </a:xfrm>
        </p:spPr>
        <p:txBody>
          <a:bodyPr/>
          <a:lstStyle/>
          <a:p>
            <a:fld id="{FEFB1823-63EE-423F-9C0B-A09E9E56188F}" type="slidenum">
              <a:rPr lang="en-IN" smtClean="0"/>
              <a:t>9</a:t>
            </a:fld>
            <a:endParaRPr lang="en-IN" dirty="0"/>
          </a:p>
        </p:txBody>
      </p:sp>
      <p:pic>
        <p:nvPicPr>
          <p:cNvPr id="8" name="Picture 7">
            <a:extLst>
              <a:ext uri="{FF2B5EF4-FFF2-40B4-BE49-F238E27FC236}">
                <a16:creationId xmlns:a16="http://schemas.microsoft.com/office/drawing/2014/main" id="{1D1DF9B8-68B9-A541-F69E-087215A64384}"/>
              </a:ext>
            </a:extLst>
          </p:cNvPr>
          <p:cNvPicPr>
            <a:picLocks noChangeAspect="1"/>
          </p:cNvPicPr>
          <p:nvPr/>
        </p:nvPicPr>
        <p:blipFill>
          <a:blip r:embed="rId2"/>
          <a:stretch>
            <a:fillRect/>
          </a:stretch>
        </p:blipFill>
        <p:spPr>
          <a:xfrm>
            <a:off x="245145" y="1015783"/>
            <a:ext cx="7509326" cy="4051992"/>
          </a:xfrm>
          <a:prstGeom prst="rect">
            <a:avLst/>
          </a:prstGeom>
          <a:ln w="6350">
            <a:solidFill>
              <a:schemeClr val="tx1"/>
            </a:solid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3B752C83-1995-E125-8EAD-53FF3E1BE448}"/>
              </a:ext>
            </a:extLst>
          </p:cNvPr>
          <p:cNvPicPr>
            <a:picLocks noChangeAspect="1"/>
          </p:cNvPicPr>
          <p:nvPr/>
        </p:nvPicPr>
        <p:blipFill>
          <a:blip r:embed="rId3"/>
          <a:stretch>
            <a:fillRect/>
          </a:stretch>
        </p:blipFill>
        <p:spPr>
          <a:xfrm>
            <a:off x="10301027" y="6400482"/>
            <a:ext cx="1786283" cy="463336"/>
          </a:xfrm>
          <a:prstGeom prst="rect">
            <a:avLst/>
          </a:prstGeom>
        </p:spPr>
      </p:pic>
      <p:sp>
        <p:nvSpPr>
          <p:cNvPr id="9" name="TextBox 8">
            <a:extLst>
              <a:ext uri="{FF2B5EF4-FFF2-40B4-BE49-F238E27FC236}">
                <a16:creationId xmlns:a16="http://schemas.microsoft.com/office/drawing/2014/main" id="{01B6AF16-A120-AA64-EF67-1A788A457ECB}"/>
              </a:ext>
            </a:extLst>
          </p:cNvPr>
          <p:cNvSpPr txBox="1"/>
          <p:nvPr/>
        </p:nvSpPr>
        <p:spPr>
          <a:xfrm>
            <a:off x="330310" y="338231"/>
            <a:ext cx="7338995" cy="369332"/>
          </a:xfrm>
          <a:prstGeom prst="rect">
            <a:avLst/>
          </a:prstGeom>
        </p:spPr>
        <p:txBody>
          <a:bodyPr wrap="square" rtlCol="0">
            <a:spAutoFit/>
          </a:bodyPr>
          <a:lstStyle/>
          <a:p>
            <a:pPr marL="0" indent="0" algn="ctr">
              <a:lnSpc>
                <a:spcPct val="100000"/>
              </a:lnSpc>
              <a:spcBef>
                <a:spcPts val="0"/>
              </a:spcBef>
              <a:buFontTx/>
              <a:buNone/>
            </a:pPr>
            <a:r>
              <a:rPr lang="en-IN" sz="1800" dirty="0">
                <a:latin typeface="Posterama" panose="020B0504020200020000" pitchFamily="34" charset="0"/>
                <a:ea typeface="微软雅黑"/>
                <a:cs typeface="Posterama" panose="020B0504020200020000" pitchFamily="34" charset="0"/>
              </a:rPr>
              <a:t>Patient’s Vital Status by Overall Survival ( Months )</a:t>
            </a:r>
          </a:p>
        </p:txBody>
      </p:sp>
    </p:spTree>
    <p:extLst>
      <p:ext uri="{BB962C8B-B14F-4D97-AF65-F5344CB8AC3E}">
        <p14:creationId xmlns:p14="http://schemas.microsoft.com/office/powerpoint/2010/main" val="52133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D6F392-7FE6-EA88-E225-BA28187E5AC7}"/>
              </a:ext>
            </a:extLst>
          </p:cNvPr>
          <p:cNvSpPr>
            <a:spLocks noGrp="1"/>
          </p:cNvSpPr>
          <p:nvPr>
            <p:ph type="sldNum" sz="quarter" idx="12"/>
          </p:nvPr>
        </p:nvSpPr>
        <p:spPr>
          <a:xfrm>
            <a:off x="11624475" y="6020555"/>
            <a:ext cx="458592" cy="365125"/>
          </a:xfrm>
        </p:spPr>
        <p:txBody>
          <a:bodyPr/>
          <a:lstStyle/>
          <a:p>
            <a:fld id="{FEFB1823-63EE-423F-9C0B-A09E9E56188F}" type="slidenum">
              <a:rPr lang="en-IN" smtClean="0"/>
              <a:t>10</a:t>
            </a:fld>
            <a:endParaRPr lang="en-IN" dirty="0"/>
          </a:p>
        </p:txBody>
      </p:sp>
      <p:pic>
        <p:nvPicPr>
          <p:cNvPr id="5" name="Picture 4">
            <a:extLst>
              <a:ext uri="{FF2B5EF4-FFF2-40B4-BE49-F238E27FC236}">
                <a16:creationId xmlns:a16="http://schemas.microsoft.com/office/drawing/2014/main" id="{7CDDFC69-F74D-D173-A106-9808DB270663}"/>
              </a:ext>
            </a:extLst>
          </p:cNvPr>
          <p:cNvPicPr>
            <a:picLocks noChangeAspect="1"/>
          </p:cNvPicPr>
          <p:nvPr/>
        </p:nvPicPr>
        <p:blipFill>
          <a:blip r:embed="rId2"/>
          <a:stretch>
            <a:fillRect/>
          </a:stretch>
        </p:blipFill>
        <p:spPr>
          <a:xfrm>
            <a:off x="367552" y="986415"/>
            <a:ext cx="5665696" cy="4885169"/>
          </a:xfrm>
          <a:prstGeom prst="rect">
            <a:avLst/>
          </a:prstGeom>
        </p:spPr>
      </p:pic>
      <p:sp>
        <p:nvSpPr>
          <p:cNvPr id="6" name="TextBox 5">
            <a:extLst>
              <a:ext uri="{FF2B5EF4-FFF2-40B4-BE49-F238E27FC236}">
                <a16:creationId xmlns:a16="http://schemas.microsoft.com/office/drawing/2014/main" id="{410F5F47-D19D-0C71-1E73-8C14B2FA554C}"/>
              </a:ext>
            </a:extLst>
          </p:cNvPr>
          <p:cNvSpPr txBox="1"/>
          <p:nvPr/>
        </p:nvSpPr>
        <p:spPr>
          <a:xfrm>
            <a:off x="6460804" y="1576557"/>
            <a:ext cx="5163671" cy="3554819"/>
          </a:xfrm>
          <a:prstGeom prst="rect">
            <a:avLst/>
          </a:prstGeom>
        </p:spPr>
        <p:txBody>
          <a:bodyPr wrap="square" rtlCol="0">
            <a:spAutoFit/>
          </a:bodyPr>
          <a:lstStyle/>
          <a:p>
            <a:pPr marL="342900" indent="-342900" algn="just">
              <a:lnSpc>
                <a:spcPct val="100000"/>
              </a:lnSpc>
              <a:spcBef>
                <a:spcPts val="0"/>
              </a:spcBef>
              <a:buFont typeface="Courier New" panose="02070309020205020404" pitchFamily="49" charset="0"/>
              <a:buChar char="o"/>
            </a:pPr>
            <a:r>
              <a:rPr lang="en-US" sz="1500" dirty="0">
                <a:latin typeface="Times New Roman" panose="02020603050405020304" pitchFamily="18" charset="0"/>
                <a:ea typeface="微软雅黑"/>
                <a:cs typeface="Times New Roman" panose="02020603050405020304" pitchFamily="18" charset="0"/>
              </a:rPr>
              <a:t>Age of Diagnosis , Cohort  and Tumor size seem to positively correlated with Patient's vital Status . While , Overall Survival Status Living , Overall Survival(Months) , Relapse Free Status(Months) seem to be negatively correlated with Patient's vital Status .</a:t>
            </a:r>
          </a:p>
          <a:p>
            <a:pPr marL="342900" indent="-342900" algn="just">
              <a:lnSpc>
                <a:spcPct val="100000"/>
              </a:lnSpc>
              <a:spcBef>
                <a:spcPts val="0"/>
              </a:spcBef>
              <a:buFont typeface="Courier New" panose="02070309020205020404" pitchFamily="49" charset="0"/>
              <a:buChar char="o"/>
            </a:pPr>
            <a:endParaRPr lang="en-US" sz="15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Courier New" panose="02070309020205020404" pitchFamily="49" charset="0"/>
              <a:buChar char="o"/>
            </a:pPr>
            <a:r>
              <a:rPr lang="en-US" sz="1500" dirty="0">
                <a:latin typeface="Times New Roman" panose="02020603050405020304" pitchFamily="18" charset="0"/>
                <a:ea typeface="微软雅黑"/>
                <a:cs typeface="Times New Roman" panose="02020603050405020304" pitchFamily="18" charset="0"/>
              </a:rPr>
              <a:t>Some variables around the zero-correlation mark (e.g., HER2 status measured by SNP6_Undef and Neoplasm histologic Grade) have minimal or no apparent influence on the target variable, suggesting they may not contribute significantly to the outcome.</a:t>
            </a:r>
          </a:p>
          <a:p>
            <a:pPr marL="342900" indent="-342900" algn="just">
              <a:lnSpc>
                <a:spcPct val="100000"/>
              </a:lnSpc>
              <a:spcBef>
                <a:spcPts val="0"/>
              </a:spcBef>
              <a:buFont typeface="Courier New" panose="02070309020205020404" pitchFamily="49" charset="0"/>
              <a:buChar char="o"/>
            </a:pPr>
            <a:endParaRPr lang="en-US" sz="1500" dirty="0">
              <a:latin typeface="Times New Roman" panose="02020603050405020304" pitchFamily="18" charset="0"/>
              <a:ea typeface="微软雅黑"/>
              <a:cs typeface="Times New Roman" panose="02020603050405020304" pitchFamily="18" charset="0"/>
            </a:endParaRPr>
          </a:p>
          <a:p>
            <a:pPr marL="342900" indent="-342900" algn="just">
              <a:lnSpc>
                <a:spcPct val="100000"/>
              </a:lnSpc>
              <a:spcBef>
                <a:spcPts val="0"/>
              </a:spcBef>
              <a:buFont typeface="Courier New" panose="02070309020205020404" pitchFamily="49" charset="0"/>
              <a:buChar char="o"/>
            </a:pPr>
            <a:r>
              <a:rPr lang="en-US" sz="1500" dirty="0">
                <a:latin typeface="Times New Roman" panose="02020603050405020304" pitchFamily="18" charset="0"/>
                <a:ea typeface="微软雅黑"/>
                <a:cs typeface="Times New Roman" panose="02020603050405020304" pitchFamily="18" charset="0"/>
              </a:rPr>
              <a:t>We will explore the patterns of the above correlations further before delving into modeling and identifying the important variables.</a:t>
            </a:r>
            <a:endParaRPr lang="en-IN" sz="1500" dirty="0">
              <a:latin typeface="Times New Roman" panose="02020603050405020304" pitchFamily="18" charset="0"/>
              <a:ea typeface="微软雅黑"/>
              <a:cs typeface="Times New Roman" panose="02020603050405020304" pitchFamily="18" charset="0"/>
            </a:endParaRPr>
          </a:p>
        </p:txBody>
      </p:sp>
      <p:pic>
        <p:nvPicPr>
          <p:cNvPr id="7" name="Picture 6">
            <a:extLst>
              <a:ext uri="{FF2B5EF4-FFF2-40B4-BE49-F238E27FC236}">
                <a16:creationId xmlns:a16="http://schemas.microsoft.com/office/drawing/2014/main" id="{39156543-7B55-A629-D711-B1BCB8E530F0}"/>
              </a:ext>
            </a:extLst>
          </p:cNvPr>
          <p:cNvPicPr>
            <a:picLocks noChangeAspect="1"/>
          </p:cNvPicPr>
          <p:nvPr/>
        </p:nvPicPr>
        <p:blipFill>
          <a:blip r:embed="rId3"/>
          <a:stretch>
            <a:fillRect/>
          </a:stretch>
        </p:blipFill>
        <p:spPr>
          <a:xfrm>
            <a:off x="10405717" y="6385680"/>
            <a:ext cx="1786283" cy="463336"/>
          </a:xfrm>
          <a:prstGeom prst="rect">
            <a:avLst/>
          </a:prstGeom>
        </p:spPr>
      </p:pic>
      <p:sp>
        <p:nvSpPr>
          <p:cNvPr id="4" name="TextBox 3">
            <a:extLst>
              <a:ext uri="{FF2B5EF4-FFF2-40B4-BE49-F238E27FC236}">
                <a16:creationId xmlns:a16="http://schemas.microsoft.com/office/drawing/2014/main" id="{AB86BB56-DAA5-BF78-6466-5B77C96D3DB3}"/>
              </a:ext>
            </a:extLst>
          </p:cNvPr>
          <p:cNvSpPr txBox="1"/>
          <p:nvPr/>
        </p:nvSpPr>
        <p:spPr>
          <a:xfrm>
            <a:off x="2210337" y="272851"/>
            <a:ext cx="7338995" cy="369332"/>
          </a:xfrm>
          <a:prstGeom prst="rect">
            <a:avLst/>
          </a:prstGeom>
        </p:spPr>
        <p:txBody>
          <a:bodyPr wrap="square" rtlCol="0">
            <a:spAutoFit/>
          </a:bodyPr>
          <a:lstStyle/>
          <a:p>
            <a:pPr marL="0" indent="0" algn="ctr">
              <a:lnSpc>
                <a:spcPct val="100000"/>
              </a:lnSpc>
              <a:spcBef>
                <a:spcPts val="0"/>
              </a:spcBef>
              <a:buFontTx/>
              <a:buNone/>
            </a:pPr>
            <a:r>
              <a:rPr lang="en-IN" sz="1800" dirty="0">
                <a:latin typeface="Posterama" panose="020B0504020200020000" pitchFamily="34" charset="0"/>
                <a:ea typeface="微软雅黑"/>
                <a:cs typeface="Posterama" panose="020B0504020200020000" pitchFamily="34" charset="0"/>
              </a:rPr>
              <a:t>Correlation of each columns by target variable</a:t>
            </a:r>
          </a:p>
        </p:txBody>
      </p:sp>
    </p:spTree>
    <p:extLst>
      <p:ext uri="{BB962C8B-B14F-4D97-AF65-F5344CB8AC3E}">
        <p14:creationId xmlns:p14="http://schemas.microsoft.com/office/powerpoint/2010/main" val="1215158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336554-BA3C-F752-362A-7BCF83D3A101}"/>
              </a:ext>
            </a:extLst>
          </p:cNvPr>
          <p:cNvSpPr>
            <a:spLocks noGrp="1"/>
          </p:cNvSpPr>
          <p:nvPr>
            <p:ph type="sldNum" sz="quarter" idx="12"/>
          </p:nvPr>
        </p:nvSpPr>
        <p:spPr>
          <a:xfrm>
            <a:off x="11478072" y="6052847"/>
            <a:ext cx="458592" cy="365125"/>
          </a:xfrm>
        </p:spPr>
        <p:txBody>
          <a:bodyPr/>
          <a:lstStyle/>
          <a:p>
            <a:fld id="{FEFB1823-63EE-423F-9C0B-A09E9E56188F}" type="slidenum">
              <a:rPr lang="en-IN" smtClean="0"/>
              <a:t>11</a:t>
            </a:fld>
            <a:endParaRPr lang="en-IN" dirty="0"/>
          </a:p>
        </p:txBody>
      </p:sp>
      <p:pic>
        <p:nvPicPr>
          <p:cNvPr id="7" name="Picture 6">
            <a:extLst>
              <a:ext uri="{FF2B5EF4-FFF2-40B4-BE49-F238E27FC236}">
                <a16:creationId xmlns:a16="http://schemas.microsoft.com/office/drawing/2014/main" id="{7B1DE6D9-A7C4-C6E3-3D77-91D11C408C0E}"/>
              </a:ext>
            </a:extLst>
          </p:cNvPr>
          <p:cNvPicPr>
            <a:picLocks noChangeAspect="1"/>
          </p:cNvPicPr>
          <p:nvPr/>
        </p:nvPicPr>
        <p:blipFill>
          <a:blip r:embed="rId2"/>
          <a:stretch>
            <a:fillRect/>
          </a:stretch>
        </p:blipFill>
        <p:spPr>
          <a:xfrm>
            <a:off x="135009" y="1284747"/>
            <a:ext cx="6274756" cy="3905295"/>
          </a:xfrm>
          <a:prstGeom prst="rect">
            <a:avLst/>
          </a:prstGeom>
          <a:ln w="6350">
            <a:solidFill>
              <a:schemeClr val="tx1"/>
            </a:solid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77BD69EF-63E6-206F-8AC3-1060C621DBBC}"/>
              </a:ext>
            </a:extLst>
          </p:cNvPr>
          <p:cNvSpPr txBox="1"/>
          <p:nvPr/>
        </p:nvSpPr>
        <p:spPr>
          <a:xfrm>
            <a:off x="44825" y="432184"/>
            <a:ext cx="7338995" cy="369332"/>
          </a:xfrm>
          <a:prstGeom prst="rect">
            <a:avLst/>
          </a:prstGeom>
        </p:spPr>
        <p:txBody>
          <a:bodyPr wrap="square" rtlCol="0">
            <a:spAutoFit/>
          </a:bodyPr>
          <a:lstStyle/>
          <a:p>
            <a:pPr marL="0" indent="0" algn="ctr">
              <a:lnSpc>
                <a:spcPct val="100000"/>
              </a:lnSpc>
              <a:spcBef>
                <a:spcPts val="0"/>
              </a:spcBef>
              <a:buFontTx/>
              <a:buNone/>
            </a:pPr>
            <a:r>
              <a:rPr lang="en-IN" sz="1800" dirty="0">
                <a:latin typeface="Posterama" panose="020B0504020200020000" pitchFamily="34" charset="0"/>
                <a:ea typeface="微软雅黑"/>
                <a:cs typeface="Posterama" panose="020B0504020200020000" pitchFamily="34" charset="0"/>
              </a:rPr>
              <a:t>Cancer Treatment Distribution by Cancer Type</a:t>
            </a:r>
          </a:p>
        </p:txBody>
      </p:sp>
      <p:pic>
        <p:nvPicPr>
          <p:cNvPr id="9" name="Picture 8">
            <a:extLst>
              <a:ext uri="{FF2B5EF4-FFF2-40B4-BE49-F238E27FC236}">
                <a16:creationId xmlns:a16="http://schemas.microsoft.com/office/drawing/2014/main" id="{FAEEF3A1-C9C5-3E08-2F31-1D55C6299B62}"/>
              </a:ext>
            </a:extLst>
          </p:cNvPr>
          <p:cNvPicPr>
            <a:picLocks noChangeAspect="1"/>
          </p:cNvPicPr>
          <p:nvPr/>
        </p:nvPicPr>
        <p:blipFill>
          <a:blip r:embed="rId3"/>
          <a:stretch>
            <a:fillRect/>
          </a:stretch>
        </p:blipFill>
        <p:spPr>
          <a:xfrm>
            <a:off x="10405717" y="6394664"/>
            <a:ext cx="1786283" cy="463336"/>
          </a:xfrm>
          <a:prstGeom prst="rect">
            <a:avLst/>
          </a:prstGeom>
        </p:spPr>
      </p:pic>
      <p:sp>
        <p:nvSpPr>
          <p:cNvPr id="10" name="Rectangle 2">
            <a:extLst>
              <a:ext uri="{FF2B5EF4-FFF2-40B4-BE49-F238E27FC236}">
                <a16:creationId xmlns:a16="http://schemas.microsoft.com/office/drawing/2014/main" id="{98561429-C013-B8C8-2F93-4A635EDFEC3E}"/>
              </a:ext>
            </a:extLst>
          </p:cNvPr>
          <p:cNvSpPr>
            <a:spLocks noChangeArrowheads="1"/>
          </p:cNvSpPr>
          <p:nvPr/>
        </p:nvSpPr>
        <p:spPr bwMode="auto">
          <a:xfrm>
            <a:off x="7316593" y="947710"/>
            <a:ext cx="462007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Treatment Distribution by Cancer Type:</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graph illustrates how different treatments (Chemotherapy, Hormone Therapy, and Radio Therapy) are distributed among various cancer types. Each bar represents a cancer type, with segments showing the number of patients receiving each treatment.</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Dominant Treatments:</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segments indicate the most commonly used treatment for each cancer type. If Chemotherapy consistently appears as the largest segment, it suggests it is the preferred treatment for multiple cancer types.</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Variation Across Cancer Types:</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cancer types have a balanced distribution of all three treatments, while others rely more on a specific type. This reflects differences in treatment strategies and protocols for different cancers.</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Overall Comparison:</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total height of each bar represents the number of patients diagnosed with that cancer type. Taller bars indicate more prevalent cancers with greater treatment demand.</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Key Insights:</a:t>
            </a:r>
          </a:p>
          <a:p>
            <a:pPr marR="0" lvl="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legend provides total counts for each treatment type across all cancer types, helping identify the most widely used treatment overall. This analysis can guide resource allocation and further research on treatment effectiveness.</a:t>
            </a:r>
          </a:p>
        </p:txBody>
      </p:sp>
    </p:spTree>
    <p:extLst>
      <p:ext uri="{BB962C8B-B14F-4D97-AF65-F5344CB8AC3E}">
        <p14:creationId xmlns:p14="http://schemas.microsoft.com/office/powerpoint/2010/main" val="2171248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A65D-A712-86A5-832F-717937A08BFF}"/>
              </a:ext>
            </a:extLst>
          </p:cNvPr>
          <p:cNvSpPr>
            <a:spLocks noGrp="1"/>
          </p:cNvSpPr>
          <p:nvPr>
            <p:ph type="title"/>
          </p:nvPr>
        </p:nvSpPr>
        <p:spPr>
          <a:xfrm>
            <a:off x="5364150" y="445266"/>
            <a:ext cx="4279153" cy="461242"/>
          </a:xfrm>
        </p:spPr>
        <p:txBody>
          <a:bodyPr/>
          <a:lstStyle/>
          <a:p>
            <a:r>
              <a:rPr lang="en-IN" sz="3000" dirty="0">
                <a:latin typeface="Times New Roman" panose="02020603050405020304" pitchFamily="18" charset="0"/>
                <a:cs typeface="Times New Roman" panose="02020603050405020304" pitchFamily="18" charset="0"/>
              </a:rPr>
              <a:t>TRAIN – TEST SPLIT</a:t>
            </a:r>
          </a:p>
        </p:txBody>
      </p:sp>
      <p:sp>
        <p:nvSpPr>
          <p:cNvPr id="3" name="Text Placeholder 2">
            <a:extLst>
              <a:ext uri="{FF2B5EF4-FFF2-40B4-BE49-F238E27FC236}">
                <a16:creationId xmlns:a16="http://schemas.microsoft.com/office/drawing/2014/main" id="{218EA6CA-EA86-3ED2-90B9-629867C47170}"/>
              </a:ext>
            </a:extLst>
          </p:cNvPr>
          <p:cNvSpPr>
            <a:spLocks noGrp="1"/>
          </p:cNvSpPr>
          <p:nvPr>
            <p:ph type="body" sz="quarter" idx="29"/>
          </p:nvPr>
        </p:nvSpPr>
        <p:spPr>
          <a:xfrm>
            <a:off x="5434245" y="1174994"/>
            <a:ext cx="6155497" cy="1688906"/>
          </a:xfrm>
        </p:spPr>
        <p:txBody>
          <a:bodyPr/>
          <a:lstStyle/>
          <a:p>
            <a:pPr marL="342900" indent="-342900">
              <a:buFont typeface="Courier New" panose="02070309020205020404" pitchFamily="49" charset="0"/>
              <a:buChar char="o"/>
            </a:pPr>
            <a:r>
              <a:rPr lang="en-US" sz="1600" dirty="0">
                <a:solidFill>
                  <a:schemeClr val="tx1"/>
                </a:solidFill>
                <a:latin typeface="Times New Roman" panose="02020603050405020304" pitchFamily="18" charset="0"/>
                <a:cs typeface="Times New Roman" panose="02020603050405020304" pitchFamily="18" charset="0"/>
              </a:rPr>
              <a:t>We divided the data into training (80%) and testing (20%) sets.</a:t>
            </a:r>
          </a:p>
          <a:p>
            <a:pPr marL="342900" indent="-342900">
              <a:buFont typeface="Courier New" panose="02070309020205020404" pitchFamily="49" charset="0"/>
              <a:buChar char="o"/>
            </a:pPr>
            <a:endParaRPr lang="en-US" sz="100" dirty="0">
              <a:solidFill>
                <a:schemeClr val="tx1"/>
              </a:solidFill>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1600" dirty="0">
                <a:solidFill>
                  <a:schemeClr val="tx1"/>
                </a:solidFill>
                <a:latin typeface="Times New Roman" panose="02020603050405020304" pitchFamily="18" charset="0"/>
                <a:cs typeface="Times New Roman" panose="02020603050405020304" pitchFamily="18" charset="0"/>
              </a:rPr>
              <a:t>Setting a random state ensures consistent results and using stratify=y maintains a proportional distribution of the target variable in both sets.</a:t>
            </a:r>
          </a:p>
          <a:p>
            <a:pPr marL="342900" indent="-342900">
              <a:buFont typeface="Courier New" panose="02070309020205020404" pitchFamily="49" charset="0"/>
              <a:buChar char="o"/>
            </a:pP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0868468-7613-5AAA-9CA2-4522101E15E2}"/>
              </a:ext>
            </a:extLst>
          </p:cNvPr>
          <p:cNvSpPr>
            <a:spLocks noGrp="1"/>
          </p:cNvSpPr>
          <p:nvPr>
            <p:ph type="sldNum" sz="quarter" idx="31"/>
          </p:nvPr>
        </p:nvSpPr>
        <p:spPr>
          <a:xfrm>
            <a:off x="11644709" y="6035357"/>
            <a:ext cx="458592" cy="365125"/>
          </a:xfrm>
        </p:spPr>
        <p:txBody>
          <a:bodyPr/>
          <a:lstStyle/>
          <a:p>
            <a:fld id="{47FEACEE-25B4-4A2D-B147-27296E36371D}" type="slidenum">
              <a:rPr lang="en-US" altLang="zh-CN" noProof="0" smtClean="0"/>
              <a:pPr/>
              <a:t>12</a:t>
            </a:fld>
            <a:endParaRPr lang="en-US" altLang="zh-CN" noProof="0" dirty="0"/>
          </a:p>
        </p:txBody>
      </p:sp>
      <p:sp>
        <p:nvSpPr>
          <p:cNvPr id="6" name="Title 1">
            <a:extLst>
              <a:ext uri="{FF2B5EF4-FFF2-40B4-BE49-F238E27FC236}">
                <a16:creationId xmlns:a16="http://schemas.microsoft.com/office/drawing/2014/main" id="{97C498D9-BD60-4C6A-47BA-78269E242642}"/>
              </a:ext>
            </a:extLst>
          </p:cNvPr>
          <p:cNvSpPr txBox="1">
            <a:spLocks/>
          </p:cNvSpPr>
          <p:nvPr/>
        </p:nvSpPr>
        <p:spPr>
          <a:xfrm>
            <a:off x="5434245" y="3038010"/>
            <a:ext cx="6854474" cy="69430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700" b="1" kern="1200">
                <a:solidFill>
                  <a:schemeClr val="accent6"/>
                </a:solidFill>
                <a:latin typeface="+mn-lt"/>
                <a:ea typeface="+mj-ea"/>
                <a:cs typeface="+mj-cs"/>
              </a:defRPr>
            </a:lvl1pPr>
          </a:lstStyle>
          <a:p>
            <a:r>
              <a:rPr lang="en-IN" sz="3000" dirty="0">
                <a:latin typeface="Times New Roman" panose="02020603050405020304" pitchFamily="18" charset="0"/>
                <a:cs typeface="Times New Roman" panose="02020603050405020304" pitchFamily="18" charset="0"/>
              </a:rPr>
              <a:t>SPLITING THE DATA INTO X &amp; Y</a:t>
            </a:r>
          </a:p>
        </p:txBody>
      </p:sp>
      <p:sp>
        <p:nvSpPr>
          <p:cNvPr id="8" name="TextBox 7">
            <a:extLst>
              <a:ext uri="{FF2B5EF4-FFF2-40B4-BE49-F238E27FC236}">
                <a16:creationId xmlns:a16="http://schemas.microsoft.com/office/drawing/2014/main" id="{9E6FC98E-B56B-A1D1-19C5-CE9577B5F5E3}"/>
              </a:ext>
            </a:extLst>
          </p:cNvPr>
          <p:cNvSpPr txBox="1"/>
          <p:nvPr/>
        </p:nvSpPr>
        <p:spPr>
          <a:xfrm>
            <a:off x="5434245" y="4092867"/>
            <a:ext cx="6155497"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prstClr val="black"/>
                </a:solidFill>
                <a:latin typeface="Times New Roman" panose="02020603050405020304" pitchFamily="18" charset="0"/>
                <a:cs typeface="Times New Roman" panose="02020603050405020304" pitchFamily="18" charset="0"/>
              </a:rPr>
              <a:t>We divided the dataset into two parts: X and y.</a:t>
            </a:r>
          </a:p>
          <a:p>
            <a:pPr marL="285750" indent="-285750">
              <a:buFont typeface="Courier New" panose="02070309020205020404" pitchFamily="49" charset="0"/>
              <a:buChar char="o"/>
            </a:pPr>
            <a:endParaRPr lang="en-US" dirty="0">
              <a:solidFill>
                <a:prstClr val="black"/>
              </a:solidFill>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dirty="0">
                <a:solidFill>
                  <a:prstClr val="black"/>
                </a:solidFill>
                <a:latin typeface="Times New Roman" panose="02020603050405020304" pitchFamily="18" charset="0"/>
                <a:cs typeface="Times New Roman" panose="02020603050405020304" pitchFamily="18" charset="0"/>
              </a:rPr>
              <a:t>"</a:t>
            </a:r>
            <a:r>
              <a:rPr lang="en-US" b="1" dirty="0">
                <a:solidFill>
                  <a:prstClr val="black"/>
                </a:solidFill>
                <a:latin typeface="Times New Roman" panose="02020603050405020304" pitchFamily="18" charset="0"/>
                <a:cs typeface="Times New Roman" panose="02020603050405020304" pitchFamily="18" charset="0"/>
              </a:rPr>
              <a:t>X</a:t>
            </a:r>
            <a:r>
              <a:rPr lang="en-US" dirty="0">
                <a:solidFill>
                  <a:prstClr val="black"/>
                </a:solidFill>
                <a:latin typeface="Times New Roman" panose="02020603050405020304" pitchFamily="18" charset="0"/>
                <a:cs typeface="Times New Roman" panose="02020603050405020304" pitchFamily="18" charset="0"/>
              </a:rPr>
              <a:t>" typically represents the </a:t>
            </a:r>
            <a:r>
              <a:rPr lang="en-US" b="1" dirty="0">
                <a:solidFill>
                  <a:prstClr val="black"/>
                </a:solidFill>
                <a:latin typeface="Times New Roman" panose="02020603050405020304" pitchFamily="18" charset="0"/>
                <a:cs typeface="Times New Roman" panose="02020603050405020304" pitchFamily="18" charset="0"/>
              </a:rPr>
              <a:t>independent</a:t>
            </a:r>
            <a:r>
              <a:rPr lang="en-US" dirty="0">
                <a:solidFill>
                  <a:prstClr val="black"/>
                </a:solidFill>
                <a:latin typeface="Times New Roman" panose="02020603050405020304" pitchFamily="18" charset="0"/>
                <a:cs typeface="Times New Roman" panose="02020603050405020304" pitchFamily="18" charset="0"/>
              </a:rPr>
              <a:t> Variables, and "</a:t>
            </a:r>
            <a:r>
              <a:rPr lang="en-US" b="1" dirty="0">
                <a:solidFill>
                  <a:prstClr val="black"/>
                </a:solidFill>
                <a:latin typeface="Times New Roman" panose="02020603050405020304" pitchFamily="18" charset="0"/>
                <a:cs typeface="Times New Roman" panose="02020603050405020304" pitchFamily="18" charset="0"/>
              </a:rPr>
              <a:t>y</a:t>
            </a:r>
            <a:r>
              <a:rPr lang="en-US" dirty="0">
                <a:solidFill>
                  <a:prstClr val="black"/>
                </a:solidFill>
                <a:latin typeface="Times New Roman" panose="02020603050405020304" pitchFamily="18" charset="0"/>
                <a:cs typeface="Times New Roman" panose="02020603050405020304" pitchFamily="18" charset="0"/>
              </a:rPr>
              <a:t>" represents the </a:t>
            </a:r>
            <a:r>
              <a:rPr lang="en-US" b="1" dirty="0">
                <a:solidFill>
                  <a:prstClr val="black"/>
                </a:solidFill>
                <a:latin typeface="Times New Roman" panose="02020603050405020304" pitchFamily="18" charset="0"/>
                <a:cs typeface="Times New Roman" panose="02020603050405020304" pitchFamily="18" charset="0"/>
              </a:rPr>
              <a:t>Dependent</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target</a:t>
            </a:r>
            <a:r>
              <a:rPr lang="en-US" dirty="0">
                <a:solidFill>
                  <a:prstClr val="black"/>
                </a:solidFill>
                <a:latin typeface="Times New Roman" panose="02020603050405020304" pitchFamily="18" charset="0"/>
                <a:cs typeface="Times New Roman" panose="02020603050405020304" pitchFamily="18" charset="0"/>
              </a:rPr>
              <a:t> </a:t>
            </a:r>
            <a:r>
              <a:rPr lang="en-US" b="1" dirty="0">
                <a:solidFill>
                  <a:prstClr val="black"/>
                </a:solidFill>
                <a:latin typeface="Times New Roman" panose="02020603050405020304" pitchFamily="18" charset="0"/>
                <a:cs typeface="Times New Roman" panose="02020603050405020304" pitchFamily="18" charset="0"/>
              </a:rPr>
              <a:t>variable</a:t>
            </a:r>
            <a:r>
              <a:rPr lang="en-US" dirty="0">
                <a:solidFill>
                  <a:prstClr val="black"/>
                </a:solidFill>
                <a:latin typeface="Times New Roman" panose="02020603050405020304" pitchFamily="18" charset="0"/>
                <a:cs typeface="Times New Roman" panose="02020603050405020304" pitchFamily="18" charset="0"/>
              </a:rPr>
              <a:t>) that we want to predict or understand.</a:t>
            </a:r>
            <a:endParaRPr lang="en-IN" dirty="0">
              <a:solidFill>
                <a:prstClr val="black"/>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9BD06AE-630A-7A2B-8CE2-2ECD71B0CAC5}"/>
              </a:ext>
            </a:extLst>
          </p:cNvPr>
          <p:cNvPicPr>
            <a:picLocks noChangeAspect="1"/>
          </p:cNvPicPr>
          <p:nvPr/>
        </p:nvPicPr>
        <p:blipFill>
          <a:blip r:embed="rId2"/>
          <a:stretch>
            <a:fillRect/>
          </a:stretch>
        </p:blipFill>
        <p:spPr>
          <a:xfrm>
            <a:off x="10405717" y="6418412"/>
            <a:ext cx="1786283" cy="463336"/>
          </a:xfrm>
          <a:prstGeom prst="rect">
            <a:avLst/>
          </a:prstGeom>
        </p:spPr>
      </p:pic>
    </p:spTree>
    <p:extLst>
      <p:ext uri="{BB962C8B-B14F-4D97-AF65-F5344CB8AC3E}">
        <p14:creationId xmlns:p14="http://schemas.microsoft.com/office/powerpoint/2010/main" val="3680615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F4A1B2-BF27-E27B-FE88-F576981D1E25}"/>
              </a:ext>
            </a:extLst>
          </p:cNvPr>
          <p:cNvSpPr>
            <a:spLocks noGrp="1"/>
          </p:cNvSpPr>
          <p:nvPr>
            <p:ph type="body" sz="quarter" idx="32"/>
          </p:nvPr>
        </p:nvSpPr>
        <p:spPr/>
        <p:txBody>
          <a:bodyPr/>
          <a:lstStyle/>
          <a:p>
            <a:pPr algn="just"/>
            <a:r>
              <a:rPr lang="en-US" sz="1200" dirty="0">
                <a:latin typeface="Times New Roman" panose="02020603050405020304" pitchFamily="18" charset="0"/>
                <a:cs typeface="Times New Roman" panose="02020603050405020304" pitchFamily="18" charset="0"/>
              </a:rPr>
              <a:t>Logistic Regression is a statistical method used for binary classification. It is valued for its simplicity and effectiveness in modeling the relationship between input variables and the probability of a specific outcome.</a:t>
            </a:r>
          </a:p>
          <a:p>
            <a:pPr algn="just"/>
            <a:endParaRPr lang="en-IN" sz="1200" dirty="0"/>
          </a:p>
        </p:txBody>
      </p:sp>
      <p:sp>
        <p:nvSpPr>
          <p:cNvPr id="3" name="Text Placeholder 2">
            <a:extLst>
              <a:ext uri="{FF2B5EF4-FFF2-40B4-BE49-F238E27FC236}">
                <a16:creationId xmlns:a16="http://schemas.microsoft.com/office/drawing/2014/main" id="{88A75374-ED4A-606A-7B89-D3564CC437E0}"/>
              </a:ext>
            </a:extLst>
          </p:cNvPr>
          <p:cNvSpPr>
            <a:spLocks noGrp="1"/>
          </p:cNvSpPr>
          <p:nvPr>
            <p:ph type="body" sz="quarter" idx="50"/>
          </p:nvPr>
        </p:nvSpPr>
        <p:spPr/>
        <p:txBody>
          <a:bodyPr/>
          <a:lstStyle/>
          <a:p>
            <a:pPr algn="just"/>
            <a:r>
              <a:rPr lang="en-US" sz="1200" dirty="0">
                <a:latin typeface="Times New Roman" panose="02020603050405020304" pitchFamily="18" charset="0"/>
                <a:cs typeface="Times New Roman" panose="02020603050405020304" pitchFamily="18" charset="0"/>
              </a:rPr>
              <a:t> Decision Trees are easy to understand and work well for classification problems. They split data into smaller, manageable sections based on the most important features. This algorithm is great for data that has clear categories.</a:t>
            </a:r>
          </a:p>
          <a:p>
            <a:pPr algn="just"/>
            <a:endParaRPr lang="en-IN" sz="12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94154E3A-0EF2-4776-359E-A78B583A94AF}"/>
              </a:ext>
            </a:extLst>
          </p:cNvPr>
          <p:cNvSpPr>
            <a:spLocks noGrp="1"/>
          </p:cNvSpPr>
          <p:nvPr>
            <p:ph type="body" sz="quarter" idx="51"/>
          </p:nvPr>
        </p:nvSpPr>
        <p:spPr/>
        <p:txBody>
          <a:bodyPr/>
          <a:lstStyle/>
          <a:p>
            <a:pPr algn="just"/>
            <a:r>
              <a:rPr lang="en-US" sz="1200" dirty="0">
                <a:latin typeface="Times New Roman" panose="02020603050405020304" pitchFamily="18" charset="0"/>
                <a:cs typeface="Times New Roman" panose="02020603050405020304" pitchFamily="18" charset="0"/>
              </a:rPr>
              <a:t>Random Forest is an ensemble learning method that combines multiple decision trees to increase prediction accuracy. It is versatile, performing well for both classification and regression tasks.</a:t>
            </a:r>
          </a:p>
          <a:p>
            <a:pPr algn="just"/>
            <a:endParaRPr lang="en-IN" sz="1200" dirty="0"/>
          </a:p>
        </p:txBody>
      </p:sp>
      <p:sp>
        <p:nvSpPr>
          <p:cNvPr id="5" name="Text Placeholder 4">
            <a:extLst>
              <a:ext uri="{FF2B5EF4-FFF2-40B4-BE49-F238E27FC236}">
                <a16:creationId xmlns:a16="http://schemas.microsoft.com/office/drawing/2014/main" id="{BAE1E73B-DEA7-B633-5F15-15A55E4C1B11}"/>
              </a:ext>
            </a:extLst>
          </p:cNvPr>
          <p:cNvSpPr>
            <a:spLocks noGrp="1"/>
          </p:cNvSpPr>
          <p:nvPr>
            <p:ph type="body" sz="quarter" idx="52"/>
          </p:nvPr>
        </p:nvSpPr>
        <p:spPr/>
        <p:txBody>
          <a:bodyPr/>
          <a:lstStyle/>
          <a:p>
            <a:pPr algn="just"/>
            <a:r>
              <a:rPr lang="en-US" sz="1200" dirty="0">
                <a:latin typeface="Times New Roman" panose="02020603050405020304" pitchFamily="18" charset="0"/>
                <a:cs typeface="Times New Roman" panose="02020603050405020304" pitchFamily="18" charset="0"/>
              </a:rPr>
              <a:t>SVM is a powerful algorithm used for binary classification. It excels in situations with complex data and creates optimal decision boundaries to separate different categories effectively.</a:t>
            </a:r>
          </a:p>
        </p:txBody>
      </p:sp>
      <p:sp>
        <p:nvSpPr>
          <p:cNvPr id="6" name="Text Placeholder 5">
            <a:extLst>
              <a:ext uri="{FF2B5EF4-FFF2-40B4-BE49-F238E27FC236}">
                <a16:creationId xmlns:a16="http://schemas.microsoft.com/office/drawing/2014/main" id="{EE447F6B-6451-BDFB-1AF1-BAB626BD5F90}"/>
              </a:ext>
            </a:extLst>
          </p:cNvPr>
          <p:cNvSpPr>
            <a:spLocks noGrp="1"/>
          </p:cNvSpPr>
          <p:nvPr>
            <p:ph type="body" sz="quarter" idx="53"/>
          </p:nvPr>
        </p:nvSpPr>
        <p:spPr/>
        <p:txBody>
          <a:bodyPr/>
          <a:lstStyle/>
          <a:p>
            <a:pPr algn="just"/>
            <a:r>
              <a:rPr lang="en-US" sz="1200" dirty="0">
                <a:latin typeface="Times New Roman" panose="02020603050405020304" pitchFamily="18" charset="0"/>
                <a:cs typeface="Times New Roman" panose="02020603050405020304" pitchFamily="18" charset="0"/>
              </a:rPr>
              <a:t>KNN is a simple algorithm that classifies a new data point based on the majority class of its nearest neighbors. It is efficient for both classification and regression, especially when dealing with smaller datasets and clear patterns</a:t>
            </a:r>
            <a:endParaRPr lang="en-IN" sz="1200" dirty="0"/>
          </a:p>
        </p:txBody>
      </p:sp>
      <p:sp>
        <p:nvSpPr>
          <p:cNvPr id="7" name="Text Placeholder 6">
            <a:extLst>
              <a:ext uri="{FF2B5EF4-FFF2-40B4-BE49-F238E27FC236}">
                <a16:creationId xmlns:a16="http://schemas.microsoft.com/office/drawing/2014/main" id="{63DEF70B-4BD3-B45F-4676-9DAE8160D846}"/>
              </a:ext>
            </a:extLst>
          </p:cNvPr>
          <p:cNvSpPr>
            <a:spLocks noGrp="1"/>
          </p:cNvSpPr>
          <p:nvPr>
            <p:ph type="body" sz="quarter" idx="27"/>
          </p:nvPr>
        </p:nvSpPr>
        <p:spPr/>
        <p:txBody>
          <a:bodyPr/>
          <a:lstStyle/>
          <a:p>
            <a:r>
              <a:rPr lang="en-US" sz="1700" b="1" dirty="0">
                <a:latin typeface="Times New Roman" panose="02020603050405020304" pitchFamily="18" charset="0"/>
                <a:cs typeface="Times New Roman" panose="02020603050405020304" pitchFamily="18" charset="0"/>
              </a:rPr>
              <a:t>Logistic Regression</a:t>
            </a:r>
            <a:endParaRPr lang="en-IN" sz="1700" dirty="0"/>
          </a:p>
        </p:txBody>
      </p:sp>
      <p:sp>
        <p:nvSpPr>
          <p:cNvPr id="8" name="Title 7">
            <a:extLst>
              <a:ext uri="{FF2B5EF4-FFF2-40B4-BE49-F238E27FC236}">
                <a16:creationId xmlns:a16="http://schemas.microsoft.com/office/drawing/2014/main" id="{18CC800D-5085-F47C-B481-66BAF1B22BAC}"/>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Model Selection</a:t>
            </a:r>
          </a:p>
        </p:txBody>
      </p:sp>
      <p:sp>
        <p:nvSpPr>
          <p:cNvPr id="9" name="Text Placeholder 8">
            <a:extLst>
              <a:ext uri="{FF2B5EF4-FFF2-40B4-BE49-F238E27FC236}">
                <a16:creationId xmlns:a16="http://schemas.microsoft.com/office/drawing/2014/main" id="{57F5F245-FF27-38CC-9B7C-EBCC4A582A87}"/>
              </a:ext>
            </a:extLst>
          </p:cNvPr>
          <p:cNvSpPr>
            <a:spLocks noGrp="1"/>
          </p:cNvSpPr>
          <p:nvPr>
            <p:ph type="body" sz="quarter" idx="46"/>
          </p:nvPr>
        </p:nvSpPr>
        <p:spPr/>
        <p:txBody>
          <a:bodyPr/>
          <a:lstStyle/>
          <a:p>
            <a:r>
              <a:rPr lang="en-US" sz="1700" b="1" dirty="0">
                <a:latin typeface="Times New Roman" panose="02020603050405020304" pitchFamily="18" charset="0"/>
                <a:cs typeface="Times New Roman" panose="02020603050405020304" pitchFamily="18" charset="0"/>
              </a:rPr>
              <a:t>Decision Tree</a:t>
            </a:r>
            <a:endParaRPr lang="en-IN" sz="1700" dirty="0"/>
          </a:p>
        </p:txBody>
      </p:sp>
      <p:sp>
        <p:nvSpPr>
          <p:cNvPr id="10" name="Text Placeholder 9">
            <a:extLst>
              <a:ext uri="{FF2B5EF4-FFF2-40B4-BE49-F238E27FC236}">
                <a16:creationId xmlns:a16="http://schemas.microsoft.com/office/drawing/2014/main" id="{7924F743-E125-0212-01E9-77661716BBCB}"/>
              </a:ext>
            </a:extLst>
          </p:cNvPr>
          <p:cNvSpPr>
            <a:spLocks noGrp="1"/>
          </p:cNvSpPr>
          <p:nvPr>
            <p:ph type="body" sz="quarter" idx="47"/>
          </p:nvPr>
        </p:nvSpPr>
        <p:spPr/>
        <p:txBody>
          <a:bodyPr/>
          <a:lstStyle/>
          <a:p>
            <a:r>
              <a:rPr lang="en-US" sz="1600" b="1" dirty="0">
                <a:latin typeface="Times New Roman" panose="02020603050405020304" pitchFamily="18" charset="0"/>
                <a:cs typeface="Times New Roman" panose="02020603050405020304" pitchFamily="18" charset="0"/>
              </a:rPr>
              <a:t>Random Forest</a:t>
            </a:r>
            <a:endParaRPr lang="en-IN" sz="1600" dirty="0"/>
          </a:p>
        </p:txBody>
      </p:sp>
      <p:sp>
        <p:nvSpPr>
          <p:cNvPr id="11" name="Text Placeholder 10">
            <a:extLst>
              <a:ext uri="{FF2B5EF4-FFF2-40B4-BE49-F238E27FC236}">
                <a16:creationId xmlns:a16="http://schemas.microsoft.com/office/drawing/2014/main" id="{86B545CE-1F9B-CF21-0C12-82D46CB9C6A3}"/>
              </a:ext>
            </a:extLst>
          </p:cNvPr>
          <p:cNvSpPr>
            <a:spLocks noGrp="1"/>
          </p:cNvSpPr>
          <p:nvPr>
            <p:ph type="body" sz="quarter" idx="48"/>
          </p:nvPr>
        </p:nvSpPr>
        <p:spPr/>
        <p:txBody>
          <a:bodyPr/>
          <a:lstStyle/>
          <a:p>
            <a:r>
              <a:rPr lang="en-US" sz="1700" b="1" dirty="0">
                <a:latin typeface="Times New Roman" panose="02020603050405020304" pitchFamily="18" charset="0"/>
                <a:cs typeface="Times New Roman" panose="02020603050405020304" pitchFamily="18" charset="0"/>
              </a:rPr>
              <a:t>Support Vector Machine (SVM)</a:t>
            </a:r>
            <a:endParaRPr lang="en-IN" sz="1700" dirty="0"/>
          </a:p>
        </p:txBody>
      </p:sp>
      <p:sp>
        <p:nvSpPr>
          <p:cNvPr id="12" name="Text Placeholder 11">
            <a:extLst>
              <a:ext uri="{FF2B5EF4-FFF2-40B4-BE49-F238E27FC236}">
                <a16:creationId xmlns:a16="http://schemas.microsoft.com/office/drawing/2014/main" id="{51B3E262-AB4F-647C-D741-09F4F82E1A09}"/>
              </a:ext>
            </a:extLst>
          </p:cNvPr>
          <p:cNvSpPr>
            <a:spLocks noGrp="1"/>
          </p:cNvSpPr>
          <p:nvPr>
            <p:ph type="body" sz="quarter" idx="49"/>
          </p:nvPr>
        </p:nvSpPr>
        <p:spPr/>
        <p:txBody>
          <a:bodyPr/>
          <a:lstStyle/>
          <a:p>
            <a:r>
              <a:rPr lang="en-US" sz="1700" b="1" dirty="0">
                <a:latin typeface="Times New Roman" panose="02020603050405020304" pitchFamily="18" charset="0"/>
                <a:cs typeface="Times New Roman" panose="02020603050405020304" pitchFamily="18" charset="0"/>
              </a:rPr>
              <a:t>K-Nearest Neighbors (KNN)</a:t>
            </a:r>
            <a:endParaRPr lang="en-IN" sz="1700" dirty="0"/>
          </a:p>
        </p:txBody>
      </p:sp>
      <p:sp>
        <p:nvSpPr>
          <p:cNvPr id="14" name="Slide Number Placeholder 13">
            <a:extLst>
              <a:ext uri="{FF2B5EF4-FFF2-40B4-BE49-F238E27FC236}">
                <a16:creationId xmlns:a16="http://schemas.microsoft.com/office/drawing/2014/main" id="{D338FB20-51E0-8F39-B816-BC094FCF5B0B}"/>
              </a:ext>
            </a:extLst>
          </p:cNvPr>
          <p:cNvSpPr>
            <a:spLocks noGrp="1"/>
          </p:cNvSpPr>
          <p:nvPr>
            <p:ph type="sldNum" sz="quarter" idx="55"/>
          </p:nvPr>
        </p:nvSpPr>
        <p:spPr>
          <a:xfrm>
            <a:off x="11478072" y="6071552"/>
            <a:ext cx="458592" cy="365125"/>
          </a:xfrm>
        </p:spPr>
        <p:txBody>
          <a:bodyPr/>
          <a:lstStyle/>
          <a:p>
            <a:fld id="{47FEACEE-25B4-4A2D-B147-27296E36371D}" type="slidenum">
              <a:rPr lang="en-US" altLang="zh-CN" noProof="0" smtClean="0"/>
              <a:pPr/>
              <a:t>13</a:t>
            </a:fld>
            <a:endParaRPr lang="en-US" altLang="zh-CN" noProof="0" dirty="0"/>
          </a:p>
        </p:txBody>
      </p:sp>
      <p:pic>
        <p:nvPicPr>
          <p:cNvPr id="15" name="Picture 14">
            <a:extLst>
              <a:ext uri="{FF2B5EF4-FFF2-40B4-BE49-F238E27FC236}">
                <a16:creationId xmlns:a16="http://schemas.microsoft.com/office/drawing/2014/main" id="{383D76B7-7397-74B0-E238-3E1FE81AC201}"/>
              </a:ext>
            </a:extLst>
          </p:cNvPr>
          <p:cNvPicPr>
            <a:picLocks noChangeAspect="1"/>
          </p:cNvPicPr>
          <p:nvPr/>
        </p:nvPicPr>
        <p:blipFill>
          <a:blip r:embed="rId2"/>
          <a:stretch>
            <a:fillRect/>
          </a:stretch>
        </p:blipFill>
        <p:spPr>
          <a:xfrm>
            <a:off x="10301027" y="6400482"/>
            <a:ext cx="1786283" cy="463336"/>
          </a:xfrm>
          <a:prstGeom prst="rect">
            <a:avLst/>
          </a:prstGeom>
        </p:spPr>
      </p:pic>
    </p:spTree>
    <p:extLst>
      <p:ext uri="{BB962C8B-B14F-4D97-AF65-F5344CB8AC3E}">
        <p14:creationId xmlns:p14="http://schemas.microsoft.com/office/powerpoint/2010/main" val="2522050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4642-603D-DA8D-C6DE-37F2BAA74B78}"/>
              </a:ext>
            </a:extLst>
          </p:cNvPr>
          <p:cNvSpPr>
            <a:spLocks noGrp="1"/>
          </p:cNvSpPr>
          <p:nvPr>
            <p:ph type="title"/>
          </p:nvPr>
        </p:nvSpPr>
        <p:spPr>
          <a:xfrm>
            <a:off x="762965" y="158930"/>
            <a:ext cx="10889796" cy="735518"/>
          </a:xfrm>
        </p:spPr>
        <p:txBody>
          <a:bodyPr/>
          <a:lstStyle/>
          <a:p>
            <a:pPr algn="ctr"/>
            <a:r>
              <a:rPr lang="en-IN" sz="3200" dirty="0">
                <a:latin typeface="Times New Roman" panose="02020603050405020304" pitchFamily="18" charset="0"/>
                <a:cs typeface="Times New Roman" panose="02020603050405020304" pitchFamily="18" charset="0"/>
              </a:rPr>
              <a:t>Model Evaluation</a:t>
            </a:r>
          </a:p>
        </p:txBody>
      </p:sp>
      <p:sp>
        <p:nvSpPr>
          <p:cNvPr id="5" name="Slide Number Placeholder 4">
            <a:extLst>
              <a:ext uri="{FF2B5EF4-FFF2-40B4-BE49-F238E27FC236}">
                <a16:creationId xmlns:a16="http://schemas.microsoft.com/office/drawing/2014/main" id="{DDAB09FB-2B17-F370-2634-0277522686C2}"/>
              </a:ext>
            </a:extLst>
          </p:cNvPr>
          <p:cNvSpPr>
            <a:spLocks noGrp="1"/>
          </p:cNvSpPr>
          <p:nvPr>
            <p:ph type="sldNum" sz="quarter" idx="29"/>
          </p:nvPr>
        </p:nvSpPr>
        <p:spPr>
          <a:xfrm>
            <a:off x="11587204" y="6035357"/>
            <a:ext cx="458592" cy="365125"/>
          </a:xfrm>
        </p:spPr>
        <p:txBody>
          <a:bodyPr/>
          <a:lstStyle/>
          <a:p>
            <a:fld id="{47FEACEE-25B4-4A2D-B147-27296E36371D}" type="slidenum">
              <a:rPr lang="en-US" altLang="zh-CN" smtClean="0"/>
              <a:pPr/>
              <a:t>14</a:t>
            </a:fld>
            <a:endParaRPr lang="en-US" altLang="zh-CN" dirty="0"/>
          </a:p>
        </p:txBody>
      </p:sp>
      <p:graphicFrame>
        <p:nvGraphicFramePr>
          <p:cNvPr id="9" name="Table 8">
            <a:extLst>
              <a:ext uri="{FF2B5EF4-FFF2-40B4-BE49-F238E27FC236}">
                <a16:creationId xmlns:a16="http://schemas.microsoft.com/office/drawing/2014/main" id="{0E4A40E5-786D-B7DD-9555-17CD09121711}"/>
              </a:ext>
            </a:extLst>
          </p:cNvPr>
          <p:cNvGraphicFramePr>
            <a:graphicFrameLocks noGrp="1"/>
          </p:cNvGraphicFramePr>
          <p:nvPr>
            <p:extLst>
              <p:ext uri="{D42A27DB-BD31-4B8C-83A1-F6EECF244321}">
                <p14:modId xmlns:p14="http://schemas.microsoft.com/office/powerpoint/2010/main" val="2983233935"/>
              </p:ext>
            </p:extLst>
          </p:nvPr>
        </p:nvGraphicFramePr>
        <p:xfrm>
          <a:off x="435339" y="1100683"/>
          <a:ext cx="6662341" cy="2955569"/>
        </p:xfrm>
        <a:graphic>
          <a:graphicData uri="http://schemas.openxmlformats.org/drawingml/2006/table">
            <a:tbl>
              <a:tblPr firstRow="1" bandRow="1">
                <a:tableStyleId>{00A15C55-8517-42AA-B614-E9B94910E393}</a:tableStyleId>
              </a:tblPr>
              <a:tblGrid>
                <a:gridCol w="1617988">
                  <a:extLst>
                    <a:ext uri="{9D8B030D-6E8A-4147-A177-3AD203B41FA5}">
                      <a16:colId xmlns:a16="http://schemas.microsoft.com/office/drawing/2014/main" val="1718258765"/>
                    </a:ext>
                  </a:extLst>
                </a:gridCol>
                <a:gridCol w="1007250">
                  <a:extLst>
                    <a:ext uri="{9D8B030D-6E8A-4147-A177-3AD203B41FA5}">
                      <a16:colId xmlns:a16="http://schemas.microsoft.com/office/drawing/2014/main" val="1579173553"/>
                    </a:ext>
                  </a:extLst>
                </a:gridCol>
                <a:gridCol w="1345701">
                  <a:extLst>
                    <a:ext uri="{9D8B030D-6E8A-4147-A177-3AD203B41FA5}">
                      <a16:colId xmlns:a16="http://schemas.microsoft.com/office/drawing/2014/main" val="1899459511"/>
                    </a:ext>
                  </a:extLst>
                </a:gridCol>
                <a:gridCol w="1345701">
                  <a:extLst>
                    <a:ext uri="{9D8B030D-6E8A-4147-A177-3AD203B41FA5}">
                      <a16:colId xmlns:a16="http://schemas.microsoft.com/office/drawing/2014/main" val="1621972259"/>
                    </a:ext>
                  </a:extLst>
                </a:gridCol>
                <a:gridCol w="1345701">
                  <a:extLst>
                    <a:ext uri="{9D8B030D-6E8A-4147-A177-3AD203B41FA5}">
                      <a16:colId xmlns:a16="http://schemas.microsoft.com/office/drawing/2014/main" val="2538138503"/>
                    </a:ext>
                  </a:extLst>
                </a:gridCol>
              </a:tblGrid>
              <a:tr h="58139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MODEL’S</a:t>
                      </a: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ACCURACY  %</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PRECISION  %</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RECALL  </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F1-SCORE  %</a:t>
                      </a:r>
                      <a:endParaRPr lang="en-IN" sz="1200" b="1" u="none" dirty="0">
                        <a:solidFill>
                          <a:schemeClr val="dk1"/>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4219368325"/>
                  </a:ext>
                </a:extLst>
              </a:tr>
              <a:tr h="432669">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Logistic Regression </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97.07</a:t>
                      </a:r>
                      <a:endParaRPr lang="en-US"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96.88</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142937344"/>
                  </a:ext>
                </a:extLst>
              </a:tr>
              <a:tr h="393309">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Random Forest</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a:t>
                      </a:r>
                      <a:r>
                        <a:rPr lang="en-IN" sz="1200" b="1" u="none" dirty="0">
                          <a:solidFill>
                            <a:schemeClr val="dk1"/>
                          </a:solidFill>
                          <a:latin typeface="Times New Roman" panose="02020603050405020304" pitchFamily="18" charset="0"/>
                          <a:cs typeface="Times New Roman" panose="02020603050405020304" pitchFamily="18" charset="0"/>
                        </a:rPr>
                        <a:t>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97.17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96.87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367216814"/>
                  </a:ext>
                </a:extLst>
              </a:tr>
              <a:tr h="418671">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Decision Tree</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a:t>
                      </a:r>
                      <a:r>
                        <a:rPr lang="en-IN" sz="1200" b="1" u="none" dirty="0">
                          <a:solidFill>
                            <a:schemeClr val="dk1"/>
                          </a:solidFill>
                          <a:latin typeface="Times New Roman" panose="02020603050405020304" pitchFamily="18" charset="0"/>
                          <a:cs typeface="Times New Roman" panose="02020603050405020304" pitchFamily="18" charset="0"/>
                        </a:rPr>
                        <a:t>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97.17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96.87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192080899"/>
                  </a:ext>
                </a:extLst>
              </a:tr>
              <a:tr h="544009">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K-Nearest Neighbours (KNN)</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80.56</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80.31</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80.56</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ea typeface="+mn-ea"/>
                          <a:cs typeface="Times New Roman" panose="02020603050405020304" pitchFamily="18" charset="0"/>
                        </a:rPr>
                        <a:t>79.91</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26911151"/>
                  </a:ext>
                </a:extLst>
              </a:tr>
              <a:tr h="526831">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Support Vector Machine (SVM)</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200" b="1" u="none" dirty="0">
                          <a:solidFill>
                            <a:schemeClr val="dk1"/>
                          </a:solidFill>
                          <a:latin typeface="Times New Roman" panose="02020603050405020304" pitchFamily="18" charset="0"/>
                          <a:cs typeface="Times New Roman" panose="02020603050405020304" pitchFamily="18" charset="0"/>
                        </a:rPr>
                        <a:t>96.90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97.17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96.90</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u="none" dirty="0">
                          <a:solidFill>
                            <a:schemeClr val="dk1"/>
                          </a:solidFill>
                          <a:latin typeface="Times New Roman" panose="02020603050405020304" pitchFamily="18" charset="0"/>
                          <a:cs typeface="Times New Roman" panose="02020603050405020304" pitchFamily="18" charset="0"/>
                        </a:rPr>
                        <a:t>96.87</a:t>
                      </a:r>
                      <a:endParaRPr lang="en-IN" sz="1200" b="1" u="none"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98325812"/>
                  </a:ext>
                </a:extLst>
              </a:tr>
            </a:tbl>
          </a:graphicData>
        </a:graphic>
      </p:graphicFrame>
      <p:sp>
        <p:nvSpPr>
          <p:cNvPr id="10" name="TextBox 9">
            <a:extLst>
              <a:ext uri="{FF2B5EF4-FFF2-40B4-BE49-F238E27FC236}">
                <a16:creationId xmlns:a16="http://schemas.microsoft.com/office/drawing/2014/main" id="{96E33BED-50E4-FD83-5AF7-0559F7948257}"/>
              </a:ext>
            </a:extLst>
          </p:cNvPr>
          <p:cNvSpPr txBox="1"/>
          <p:nvPr/>
        </p:nvSpPr>
        <p:spPr>
          <a:xfrm>
            <a:off x="8165514" y="946794"/>
            <a:ext cx="2930244" cy="307777"/>
          </a:xfrm>
          <a:prstGeom prst="rect">
            <a:avLst/>
          </a:prstGeom>
          <a:ln w="19050">
            <a:solidFill>
              <a:schemeClr val="accent4"/>
            </a:solidFill>
            <a:extLst>
              <a:ext uri="{C807C97D-BFC1-408E-A445-0C87EB9F89A2}">
                <ask:lineSketchStyleProps xmlns:ask="http://schemas.microsoft.com/office/drawing/2018/sketchyshapes" sd="1219033472">
                  <a:custGeom>
                    <a:avLst/>
                    <a:gdLst>
                      <a:gd name="connsiteX0" fmla="*/ 0 w 1508948"/>
                      <a:gd name="connsiteY0" fmla="*/ 0 h 323165"/>
                      <a:gd name="connsiteX1" fmla="*/ 533162 w 1508948"/>
                      <a:gd name="connsiteY1" fmla="*/ 0 h 323165"/>
                      <a:gd name="connsiteX2" fmla="*/ 1051234 w 1508948"/>
                      <a:gd name="connsiteY2" fmla="*/ 0 h 323165"/>
                      <a:gd name="connsiteX3" fmla="*/ 1508948 w 1508948"/>
                      <a:gd name="connsiteY3" fmla="*/ 0 h 323165"/>
                      <a:gd name="connsiteX4" fmla="*/ 1508948 w 1508948"/>
                      <a:gd name="connsiteY4" fmla="*/ 323165 h 323165"/>
                      <a:gd name="connsiteX5" fmla="*/ 1036144 w 1508948"/>
                      <a:gd name="connsiteY5" fmla="*/ 323165 h 323165"/>
                      <a:gd name="connsiteX6" fmla="*/ 533162 w 1508948"/>
                      <a:gd name="connsiteY6" fmla="*/ 323165 h 323165"/>
                      <a:gd name="connsiteX7" fmla="*/ 0 w 1508948"/>
                      <a:gd name="connsiteY7" fmla="*/ 323165 h 323165"/>
                      <a:gd name="connsiteX8" fmla="*/ 0 w 1508948"/>
                      <a:gd name="connsiteY8" fmla="*/ 0 h 32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48" h="323165" fill="none" extrusionOk="0">
                        <a:moveTo>
                          <a:pt x="0" y="0"/>
                        </a:moveTo>
                        <a:cubicBezTo>
                          <a:pt x="163708" y="21949"/>
                          <a:pt x="316819" y="1798"/>
                          <a:pt x="533162" y="0"/>
                        </a:cubicBezTo>
                        <a:cubicBezTo>
                          <a:pt x="749505" y="-1798"/>
                          <a:pt x="808834" y="14525"/>
                          <a:pt x="1051234" y="0"/>
                        </a:cubicBezTo>
                        <a:cubicBezTo>
                          <a:pt x="1293634" y="-14525"/>
                          <a:pt x="1291922" y="-22054"/>
                          <a:pt x="1508948" y="0"/>
                        </a:cubicBezTo>
                        <a:cubicBezTo>
                          <a:pt x="1515147" y="135464"/>
                          <a:pt x="1498995" y="197515"/>
                          <a:pt x="1508948" y="323165"/>
                        </a:cubicBezTo>
                        <a:cubicBezTo>
                          <a:pt x="1327579" y="326297"/>
                          <a:pt x="1250993" y="333350"/>
                          <a:pt x="1036144" y="323165"/>
                        </a:cubicBezTo>
                        <a:cubicBezTo>
                          <a:pt x="821295" y="312980"/>
                          <a:pt x="774635" y="313687"/>
                          <a:pt x="533162" y="323165"/>
                        </a:cubicBezTo>
                        <a:cubicBezTo>
                          <a:pt x="291689" y="332643"/>
                          <a:pt x="245310" y="312282"/>
                          <a:pt x="0" y="323165"/>
                        </a:cubicBezTo>
                        <a:cubicBezTo>
                          <a:pt x="-11474" y="256534"/>
                          <a:pt x="-2140" y="77286"/>
                          <a:pt x="0" y="0"/>
                        </a:cubicBezTo>
                        <a:close/>
                      </a:path>
                      <a:path w="1508948" h="323165" stroke="0" extrusionOk="0">
                        <a:moveTo>
                          <a:pt x="0" y="0"/>
                        </a:moveTo>
                        <a:cubicBezTo>
                          <a:pt x="197720" y="-7680"/>
                          <a:pt x="335400" y="-22815"/>
                          <a:pt x="487893" y="0"/>
                        </a:cubicBezTo>
                        <a:cubicBezTo>
                          <a:pt x="640386" y="22815"/>
                          <a:pt x="762981" y="15977"/>
                          <a:pt x="945607" y="0"/>
                        </a:cubicBezTo>
                        <a:cubicBezTo>
                          <a:pt x="1128233" y="-15977"/>
                          <a:pt x="1279789" y="14052"/>
                          <a:pt x="1508948" y="0"/>
                        </a:cubicBezTo>
                        <a:cubicBezTo>
                          <a:pt x="1499738" y="104630"/>
                          <a:pt x="1510569" y="188380"/>
                          <a:pt x="1508948" y="323165"/>
                        </a:cubicBezTo>
                        <a:cubicBezTo>
                          <a:pt x="1375968" y="316727"/>
                          <a:pt x="1198521" y="322809"/>
                          <a:pt x="1036144" y="323165"/>
                        </a:cubicBezTo>
                        <a:cubicBezTo>
                          <a:pt x="873767" y="323521"/>
                          <a:pt x="629731" y="345716"/>
                          <a:pt x="502983" y="323165"/>
                        </a:cubicBezTo>
                        <a:cubicBezTo>
                          <a:pt x="376235" y="300614"/>
                          <a:pt x="244548" y="315036"/>
                          <a:pt x="0" y="323165"/>
                        </a:cubicBezTo>
                        <a:cubicBezTo>
                          <a:pt x="-13108" y="243965"/>
                          <a:pt x="11679" y="148460"/>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zh-CN"/>
            </a:defPPr>
            <a:lvl1pPr algn="ctr">
              <a:defRPr sz="1400" b="0">
                <a:ln w="0"/>
                <a:effectLst>
                  <a:outerShdw blurRad="38100" dist="19050" dir="2700000" algn="tl" rotWithShape="0">
                    <a:schemeClr val="dk1">
                      <a:alpha val="40000"/>
                    </a:schemeClr>
                  </a:outerShdw>
                </a:effectLst>
                <a:latin typeface="Century Gothic" panose="020B050202020202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dirty="0"/>
              <a:t>Experimental Results :</a:t>
            </a:r>
          </a:p>
        </p:txBody>
      </p:sp>
      <p:sp>
        <p:nvSpPr>
          <p:cNvPr id="11" name="TextBox 10">
            <a:extLst>
              <a:ext uri="{FF2B5EF4-FFF2-40B4-BE49-F238E27FC236}">
                <a16:creationId xmlns:a16="http://schemas.microsoft.com/office/drawing/2014/main" id="{00E3980E-2CA1-ECD4-EEDF-AC40D779089E}"/>
              </a:ext>
            </a:extLst>
          </p:cNvPr>
          <p:cNvSpPr txBox="1"/>
          <p:nvPr/>
        </p:nvSpPr>
        <p:spPr>
          <a:xfrm>
            <a:off x="7585139" y="1453672"/>
            <a:ext cx="4393595" cy="1200329"/>
          </a:xfrm>
          <a:prstGeom prst="rect">
            <a:avLst/>
          </a:prstGeom>
          <a:noFill/>
        </p:spPr>
        <p:txBody>
          <a:bodyPr wrap="square">
            <a:spAutoFit/>
          </a:bodyPr>
          <a:lstStyle/>
          <a:p>
            <a:pPr algn="just"/>
            <a:r>
              <a:rPr lang="en-US" sz="1200" b="1" u="sng" dirty="0">
                <a:latin typeface="Century Gothic" panose="020B0502020202020204" pitchFamily="34" charset="0"/>
              </a:rPr>
              <a:t>Support Vector Machine:</a:t>
            </a:r>
            <a:r>
              <a:rPr lang="en-US" sz="1200" b="1" dirty="0">
                <a:latin typeface="Century Gothic" panose="020B0502020202020204" pitchFamily="34" charset="0"/>
              </a:rPr>
              <a:t> </a:t>
            </a:r>
          </a:p>
          <a:p>
            <a:pPr algn="just"/>
            <a:r>
              <a:rPr lang="en-US" sz="1200" b="1" dirty="0">
                <a:latin typeface="Century Gothic" panose="020B0502020202020204" pitchFamily="34" charset="0"/>
              </a:rPr>
              <a:t> </a:t>
            </a:r>
          </a:p>
          <a:p>
            <a:pPr algn="just"/>
            <a:r>
              <a:rPr lang="en-US" sz="1200" b="1" dirty="0">
                <a:latin typeface="Century Gothic" panose="020B0502020202020204" pitchFamily="34" charset="0"/>
              </a:rPr>
              <a:t>Support Vector Machine excels with 96.90% accuracy, balanced precision (97.17%) and recall (96.90%), showcasing superior overall classification performance.</a:t>
            </a:r>
          </a:p>
          <a:p>
            <a:pPr algn="just"/>
            <a:endParaRPr lang="en-IN" sz="1200" b="1" dirty="0">
              <a:latin typeface="Century Gothic" panose="020B0502020202020204" pitchFamily="34" charset="0"/>
            </a:endParaRPr>
          </a:p>
        </p:txBody>
      </p:sp>
      <p:sp>
        <p:nvSpPr>
          <p:cNvPr id="13" name="TextBox 12">
            <a:extLst>
              <a:ext uri="{FF2B5EF4-FFF2-40B4-BE49-F238E27FC236}">
                <a16:creationId xmlns:a16="http://schemas.microsoft.com/office/drawing/2014/main" id="{EA45636B-4BBE-3238-F914-B9D4A0AFD568}"/>
              </a:ext>
            </a:extLst>
          </p:cNvPr>
          <p:cNvSpPr txBox="1"/>
          <p:nvPr/>
        </p:nvSpPr>
        <p:spPr>
          <a:xfrm>
            <a:off x="7585139" y="2476210"/>
            <a:ext cx="4393595" cy="1261884"/>
          </a:xfrm>
          <a:prstGeom prst="rect">
            <a:avLst/>
          </a:prstGeom>
          <a:noFill/>
        </p:spPr>
        <p:txBody>
          <a:bodyPr wrap="square">
            <a:spAutoFit/>
          </a:bodyPr>
          <a:lstStyle/>
          <a:p>
            <a:endParaRPr lang="en-US" sz="400" b="1" u="sng" dirty="0">
              <a:latin typeface="Century Gothic" panose="020B0502020202020204" pitchFamily="34" charset="0"/>
            </a:endParaRPr>
          </a:p>
          <a:p>
            <a:r>
              <a:rPr lang="en-US" sz="1200" b="1" u="sng" dirty="0">
                <a:latin typeface="Century Gothic" panose="020B0502020202020204" pitchFamily="34" charset="0"/>
              </a:rPr>
              <a:t>Random Forest &amp; Decision Tree Consistency:</a:t>
            </a:r>
            <a:r>
              <a:rPr lang="en-US" sz="1200" b="1" dirty="0">
                <a:latin typeface="Century Gothic" panose="020B0502020202020204" pitchFamily="34" charset="0"/>
              </a:rPr>
              <a:t> </a:t>
            </a:r>
          </a:p>
          <a:p>
            <a:endParaRPr lang="en-US" sz="1200" b="1" dirty="0">
              <a:latin typeface="Century Gothic" panose="020B0502020202020204" pitchFamily="34" charset="0"/>
            </a:endParaRPr>
          </a:p>
          <a:p>
            <a:r>
              <a:rPr lang="en-US" sz="1200" b="1" dirty="0">
                <a:latin typeface="Century Gothic" panose="020B0502020202020204" pitchFamily="34" charset="0"/>
              </a:rPr>
              <a:t>Both algorithms maintain 96.90% accuracy, with Decision Tree having higher precision (97.17%) and Random Forest  higher recall (96.90%).</a:t>
            </a:r>
          </a:p>
          <a:p>
            <a:endParaRPr lang="en-IN" sz="1200" b="1" dirty="0">
              <a:latin typeface="Century Gothic" panose="020B0502020202020204" pitchFamily="34" charset="0"/>
            </a:endParaRPr>
          </a:p>
        </p:txBody>
      </p:sp>
      <p:sp>
        <p:nvSpPr>
          <p:cNvPr id="14" name="TextBox 13">
            <a:extLst>
              <a:ext uri="{FF2B5EF4-FFF2-40B4-BE49-F238E27FC236}">
                <a16:creationId xmlns:a16="http://schemas.microsoft.com/office/drawing/2014/main" id="{E976855C-2E50-A184-1D68-0AC85CFE5506}"/>
              </a:ext>
            </a:extLst>
          </p:cNvPr>
          <p:cNvSpPr txBox="1"/>
          <p:nvPr/>
        </p:nvSpPr>
        <p:spPr>
          <a:xfrm>
            <a:off x="7585139" y="3446646"/>
            <a:ext cx="4393595" cy="1338828"/>
          </a:xfrm>
          <a:prstGeom prst="rect">
            <a:avLst/>
          </a:prstGeom>
          <a:noFill/>
        </p:spPr>
        <p:txBody>
          <a:bodyPr wrap="square">
            <a:spAutoFit/>
          </a:bodyPr>
          <a:lstStyle/>
          <a:p>
            <a:endParaRPr lang="en-US" sz="900" b="1" u="sng" dirty="0">
              <a:latin typeface="Century Gothic" panose="020B0502020202020204" pitchFamily="34" charset="0"/>
            </a:endParaRPr>
          </a:p>
          <a:p>
            <a:r>
              <a:rPr lang="en-US" sz="1200" b="1" u="sng" dirty="0">
                <a:latin typeface="Century Gothic" panose="020B0502020202020204" pitchFamily="34" charset="0"/>
              </a:rPr>
              <a:t>Logistic Regression &amp; K-Nearest </a:t>
            </a:r>
            <a:r>
              <a:rPr lang="en-US" sz="1200" b="1" u="sng" dirty="0" err="1">
                <a:latin typeface="Century Gothic" panose="020B0502020202020204" pitchFamily="34" charset="0"/>
              </a:rPr>
              <a:t>Neighbours</a:t>
            </a:r>
            <a:r>
              <a:rPr lang="en-US" sz="1200" b="1" u="sng" dirty="0">
                <a:latin typeface="Century Gothic" panose="020B0502020202020204" pitchFamily="34" charset="0"/>
              </a:rPr>
              <a:t> </a:t>
            </a:r>
            <a:r>
              <a:rPr lang="en-US" sz="1200" b="1" dirty="0">
                <a:latin typeface="Century Gothic" panose="020B0502020202020204" pitchFamily="34" charset="0"/>
              </a:rPr>
              <a:t>:  </a:t>
            </a:r>
          </a:p>
          <a:p>
            <a:endParaRPr lang="en-US" sz="1200" b="1" dirty="0">
              <a:latin typeface="Century Gothic" panose="020B0502020202020204" pitchFamily="34" charset="0"/>
            </a:endParaRPr>
          </a:p>
          <a:p>
            <a:r>
              <a:rPr lang="en-US" sz="1200" b="1" dirty="0">
                <a:latin typeface="Century Gothic" panose="020B0502020202020204" pitchFamily="34" charset="0"/>
              </a:rPr>
              <a:t>LR achieves 96.90% accuracy and high precision (97.07%) but lower recall (96.90%). In the same time KNN achieves 80.56% accuracy and high recall (80.56%) but lower precision (80.31%) .</a:t>
            </a:r>
          </a:p>
        </p:txBody>
      </p:sp>
      <p:pic>
        <p:nvPicPr>
          <p:cNvPr id="15" name="Picture 14">
            <a:extLst>
              <a:ext uri="{FF2B5EF4-FFF2-40B4-BE49-F238E27FC236}">
                <a16:creationId xmlns:a16="http://schemas.microsoft.com/office/drawing/2014/main" id="{2B98D580-BB89-3FF5-E5F4-C76F09C9E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70958" y="764517"/>
            <a:ext cx="523211" cy="523211"/>
          </a:xfrm>
          <a:prstGeom prst="rect">
            <a:avLst/>
          </a:prstGeom>
        </p:spPr>
      </p:pic>
      <p:sp>
        <p:nvSpPr>
          <p:cNvPr id="16" name="TextBox 15">
            <a:extLst>
              <a:ext uri="{FF2B5EF4-FFF2-40B4-BE49-F238E27FC236}">
                <a16:creationId xmlns:a16="http://schemas.microsoft.com/office/drawing/2014/main" id="{E2F07F38-7E77-0327-E543-D3F63C733966}"/>
              </a:ext>
            </a:extLst>
          </p:cNvPr>
          <p:cNvSpPr txBox="1"/>
          <p:nvPr/>
        </p:nvSpPr>
        <p:spPr>
          <a:xfrm>
            <a:off x="2192596" y="4246012"/>
            <a:ext cx="1752641" cy="307777"/>
          </a:xfrm>
          <a:prstGeom prst="rect">
            <a:avLst/>
          </a:prstGeom>
          <a:ln w="19050">
            <a:solidFill>
              <a:schemeClr val="accent4"/>
            </a:solidFill>
            <a:extLst>
              <a:ext uri="{C807C97D-BFC1-408E-A445-0C87EB9F89A2}">
                <ask:lineSketchStyleProps xmlns:ask="http://schemas.microsoft.com/office/drawing/2018/sketchyshapes" sd="1219033472">
                  <a:custGeom>
                    <a:avLst/>
                    <a:gdLst>
                      <a:gd name="connsiteX0" fmla="*/ 0 w 1508948"/>
                      <a:gd name="connsiteY0" fmla="*/ 0 h 323165"/>
                      <a:gd name="connsiteX1" fmla="*/ 533162 w 1508948"/>
                      <a:gd name="connsiteY1" fmla="*/ 0 h 323165"/>
                      <a:gd name="connsiteX2" fmla="*/ 1051234 w 1508948"/>
                      <a:gd name="connsiteY2" fmla="*/ 0 h 323165"/>
                      <a:gd name="connsiteX3" fmla="*/ 1508948 w 1508948"/>
                      <a:gd name="connsiteY3" fmla="*/ 0 h 323165"/>
                      <a:gd name="connsiteX4" fmla="*/ 1508948 w 1508948"/>
                      <a:gd name="connsiteY4" fmla="*/ 323165 h 323165"/>
                      <a:gd name="connsiteX5" fmla="*/ 1036144 w 1508948"/>
                      <a:gd name="connsiteY5" fmla="*/ 323165 h 323165"/>
                      <a:gd name="connsiteX6" fmla="*/ 533162 w 1508948"/>
                      <a:gd name="connsiteY6" fmla="*/ 323165 h 323165"/>
                      <a:gd name="connsiteX7" fmla="*/ 0 w 1508948"/>
                      <a:gd name="connsiteY7" fmla="*/ 323165 h 323165"/>
                      <a:gd name="connsiteX8" fmla="*/ 0 w 1508948"/>
                      <a:gd name="connsiteY8" fmla="*/ 0 h 32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48" h="323165" fill="none" extrusionOk="0">
                        <a:moveTo>
                          <a:pt x="0" y="0"/>
                        </a:moveTo>
                        <a:cubicBezTo>
                          <a:pt x="163708" y="21949"/>
                          <a:pt x="316819" y="1798"/>
                          <a:pt x="533162" y="0"/>
                        </a:cubicBezTo>
                        <a:cubicBezTo>
                          <a:pt x="749505" y="-1798"/>
                          <a:pt x="808834" y="14525"/>
                          <a:pt x="1051234" y="0"/>
                        </a:cubicBezTo>
                        <a:cubicBezTo>
                          <a:pt x="1293634" y="-14525"/>
                          <a:pt x="1291922" y="-22054"/>
                          <a:pt x="1508948" y="0"/>
                        </a:cubicBezTo>
                        <a:cubicBezTo>
                          <a:pt x="1515147" y="135464"/>
                          <a:pt x="1498995" y="197515"/>
                          <a:pt x="1508948" y="323165"/>
                        </a:cubicBezTo>
                        <a:cubicBezTo>
                          <a:pt x="1327579" y="326297"/>
                          <a:pt x="1250993" y="333350"/>
                          <a:pt x="1036144" y="323165"/>
                        </a:cubicBezTo>
                        <a:cubicBezTo>
                          <a:pt x="821295" y="312980"/>
                          <a:pt x="774635" y="313687"/>
                          <a:pt x="533162" y="323165"/>
                        </a:cubicBezTo>
                        <a:cubicBezTo>
                          <a:pt x="291689" y="332643"/>
                          <a:pt x="245310" y="312282"/>
                          <a:pt x="0" y="323165"/>
                        </a:cubicBezTo>
                        <a:cubicBezTo>
                          <a:pt x="-11474" y="256534"/>
                          <a:pt x="-2140" y="77286"/>
                          <a:pt x="0" y="0"/>
                        </a:cubicBezTo>
                        <a:close/>
                      </a:path>
                      <a:path w="1508948" h="323165" stroke="0" extrusionOk="0">
                        <a:moveTo>
                          <a:pt x="0" y="0"/>
                        </a:moveTo>
                        <a:cubicBezTo>
                          <a:pt x="197720" y="-7680"/>
                          <a:pt x="335400" y="-22815"/>
                          <a:pt x="487893" y="0"/>
                        </a:cubicBezTo>
                        <a:cubicBezTo>
                          <a:pt x="640386" y="22815"/>
                          <a:pt x="762981" y="15977"/>
                          <a:pt x="945607" y="0"/>
                        </a:cubicBezTo>
                        <a:cubicBezTo>
                          <a:pt x="1128233" y="-15977"/>
                          <a:pt x="1279789" y="14052"/>
                          <a:pt x="1508948" y="0"/>
                        </a:cubicBezTo>
                        <a:cubicBezTo>
                          <a:pt x="1499738" y="104630"/>
                          <a:pt x="1510569" y="188380"/>
                          <a:pt x="1508948" y="323165"/>
                        </a:cubicBezTo>
                        <a:cubicBezTo>
                          <a:pt x="1375968" y="316727"/>
                          <a:pt x="1198521" y="322809"/>
                          <a:pt x="1036144" y="323165"/>
                        </a:cubicBezTo>
                        <a:cubicBezTo>
                          <a:pt x="873767" y="323521"/>
                          <a:pt x="629731" y="345716"/>
                          <a:pt x="502983" y="323165"/>
                        </a:cubicBezTo>
                        <a:cubicBezTo>
                          <a:pt x="376235" y="300614"/>
                          <a:pt x="244548" y="315036"/>
                          <a:pt x="0" y="323165"/>
                        </a:cubicBezTo>
                        <a:cubicBezTo>
                          <a:pt x="-13108" y="243965"/>
                          <a:pt x="11679" y="148460"/>
                          <a:pt x="0" y="0"/>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ctr">
              <a:defRPr sz="1500" b="1">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r>
              <a:rPr lang="en-US" sz="1400" b="0"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Understanding</a:t>
            </a:r>
          </a:p>
        </p:txBody>
      </p:sp>
      <p:sp>
        <p:nvSpPr>
          <p:cNvPr id="17" name="TextBox 16">
            <a:extLst>
              <a:ext uri="{FF2B5EF4-FFF2-40B4-BE49-F238E27FC236}">
                <a16:creationId xmlns:a16="http://schemas.microsoft.com/office/drawing/2014/main" id="{44244271-59A7-5A12-244C-5AF7D5D2EE9C}"/>
              </a:ext>
            </a:extLst>
          </p:cNvPr>
          <p:cNvSpPr txBox="1"/>
          <p:nvPr/>
        </p:nvSpPr>
        <p:spPr>
          <a:xfrm>
            <a:off x="549203" y="4819187"/>
            <a:ext cx="6891504" cy="150810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Precision: </a:t>
            </a:r>
            <a:r>
              <a:rPr lang="en-US" sz="1200" dirty="0">
                <a:latin typeface="Times New Roman" panose="02020603050405020304" pitchFamily="18" charset="0"/>
                <a:cs typeface="Times New Roman" panose="02020603050405020304" pitchFamily="18" charset="0"/>
              </a:rPr>
              <a:t>The accuracy of the model when it claims to have found something.</a:t>
            </a:r>
          </a:p>
          <a:p>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Recall: </a:t>
            </a:r>
            <a:r>
              <a:rPr kumimoji="0" lang="en-US" sz="1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Recall: The ability of a model to find all the relevant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F1 Score: </a:t>
            </a:r>
            <a:r>
              <a:rPr kumimoji="0" lang="en-US" sz="1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 balance between recall and precision, useful when both false positives and false negatives need to be minimized.</a:t>
            </a:r>
            <a:endParaRPr kumimoji="0" lang="en-IN" sz="20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E963323A-91C1-D9E8-63D0-56D8120C8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170" y="4187410"/>
            <a:ext cx="424980" cy="424980"/>
          </a:xfrm>
          <a:prstGeom prst="rect">
            <a:avLst/>
          </a:prstGeom>
        </p:spPr>
      </p:pic>
      <p:sp>
        <p:nvSpPr>
          <p:cNvPr id="20" name="Rectangle: Rounded Corners 19">
            <a:extLst>
              <a:ext uri="{FF2B5EF4-FFF2-40B4-BE49-F238E27FC236}">
                <a16:creationId xmlns:a16="http://schemas.microsoft.com/office/drawing/2014/main" id="{19A6199F-77FC-2B2A-93F7-63B322359231}"/>
              </a:ext>
            </a:extLst>
          </p:cNvPr>
          <p:cNvSpPr/>
          <p:nvPr/>
        </p:nvSpPr>
        <p:spPr>
          <a:xfrm>
            <a:off x="375500" y="4753522"/>
            <a:ext cx="7065208" cy="1616001"/>
          </a:xfrm>
          <a:prstGeom prst="round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1" name="Picture 20">
            <a:extLst>
              <a:ext uri="{FF2B5EF4-FFF2-40B4-BE49-F238E27FC236}">
                <a16:creationId xmlns:a16="http://schemas.microsoft.com/office/drawing/2014/main" id="{1293E2A7-2716-C2E9-901C-0EFA90D4299D}"/>
              </a:ext>
            </a:extLst>
          </p:cNvPr>
          <p:cNvPicPr>
            <a:picLocks noChangeAspect="1"/>
          </p:cNvPicPr>
          <p:nvPr/>
        </p:nvPicPr>
        <p:blipFill>
          <a:blip r:embed="rId4"/>
          <a:stretch>
            <a:fillRect/>
          </a:stretch>
        </p:blipFill>
        <p:spPr>
          <a:xfrm>
            <a:off x="10405717" y="6400482"/>
            <a:ext cx="1786283" cy="463336"/>
          </a:xfrm>
          <a:prstGeom prst="rect">
            <a:avLst/>
          </a:prstGeom>
        </p:spPr>
      </p:pic>
    </p:spTree>
    <p:extLst>
      <p:ext uri="{BB962C8B-B14F-4D97-AF65-F5344CB8AC3E}">
        <p14:creationId xmlns:p14="http://schemas.microsoft.com/office/powerpoint/2010/main" val="3992356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2F28A2-F000-44B8-BB24-C18CE1E61937}"/>
              </a:ext>
            </a:extLst>
          </p:cNvPr>
          <p:cNvSpPr>
            <a:spLocks noGrp="1"/>
          </p:cNvSpPr>
          <p:nvPr>
            <p:ph type="sldNum" sz="quarter" idx="12"/>
          </p:nvPr>
        </p:nvSpPr>
        <p:spPr>
          <a:xfrm>
            <a:off x="11628718" y="6037876"/>
            <a:ext cx="458592" cy="365125"/>
          </a:xfrm>
        </p:spPr>
        <p:txBody>
          <a:bodyPr/>
          <a:lstStyle/>
          <a:p>
            <a:fld id="{FEFB1823-63EE-423F-9C0B-A09E9E56188F}" type="slidenum">
              <a:rPr lang="en-IN" smtClean="0"/>
              <a:t>15</a:t>
            </a:fld>
            <a:endParaRPr lang="en-IN"/>
          </a:p>
        </p:txBody>
      </p:sp>
      <p:sp>
        <p:nvSpPr>
          <p:cNvPr id="4" name="TextBox 3">
            <a:extLst>
              <a:ext uri="{FF2B5EF4-FFF2-40B4-BE49-F238E27FC236}">
                <a16:creationId xmlns:a16="http://schemas.microsoft.com/office/drawing/2014/main" id="{E883AA81-9604-5801-B645-3F0A362638A7}"/>
              </a:ext>
            </a:extLst>
          </p:cNvPr>
          <p:cNvSpPr txBox="1"/>
          <p:nvPr/>
        </p:nvSpPr>
        <p:spPr>
          <a:xfrm>
            <a:off x="687295" y="924389"/>
            <a:ext cx="2881516" cy="538609"/>
          </a:xfrm>
          <a:prstGeom prst="rect">
            <a:avLst/>
          </a:prstGeom>
          <a:noFill/>
        </p:spPr>
        <p:txBody>
          <a:bodyPr wrap="square">
            <a:spAutoFit/>
          </a:bodyPr>
          <a:lstStyle/>
          <a:p>
            <a:pPr algn="ctr"/>
            <a:r>
              <a:rPr lang="en-IN" sz="24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rPr>
              <a:t>Key</a:t>
            </a:r>
            <a:r>
              <a:rPr lang="en-IN" sz="28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rPr>
              <a:t> </a:t>
            </a:r>
            <a:r>
              <a:rPr lang="en-IN" sz="24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rPr>
              <a:t>Findings</a:t>
            </a:r>
            <a:endParaRPr lang="en-IN" sz="2800" b="1" dirty="0">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endParaRPr>
          </a:p>
        </p:txBody>
      </p:sp>
      <p:sp>
        <p:nvSpPr>
          <p:cNvPr id="5" name="TextBox 4">
            <a:extLst>
              <a:ext uri="{FF2B5EF4-FFF2-40B4-BE49-F238E27FC236}">
                <a16:creationId xmlns:a16="http://schemas.microsoft.com/office/drawing/2014/main" id="{F7635B4B-F71C-16CF-5225-900B38CAFAA8}"/>
              </a:ext>
            </a:extLst>
          </p:cNvPr>
          <p:cNvSpPr txBox="1"/>
          <p:nvPr/>
        </p:nvSpPr>
        <p:spPr>
          <a:xfrm>
            <a:off x="687295" y="2900069"/>
            <a:ext cx="2808312" cy="538609"/>
          </a:xfrm>
          <a:prstGeom prst="rect">
            <a:avLst/>
          </a:prstGeom>
          <a:noFill/>
        </p:spPr>
        <p:txBody>
          <a:bodyPr wrap="square">
            <a:spAutoFit/>
          </a:bodyPr>
          <a:lstStyle>
            <a:defPPr>
              <a:defRPr lang="zh-CN"/>
            </a:defPPr>
            <a:lvl1pPr algn="ctr">
              <a:defRPr sz="2400" b="1">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defRPr>
            </a:lvl1pPr>
          </a:lstStyle>
          <a:p>
            <a:r>
              <a:rPr lang="en-IN" dirty="0"/>
              <a:t>Limitations</a:t>
            </a:r>
          </a:p>
        </p:txBody>
      </p:sp>
      <p:sp>
        <p:nvSpPr>
          <p:cNvPr id="6" name="TextBox 5">
            <a:extLst>
              <a:ext uri="{FF2B5EF4-FFF2-40B4-BE49-F238E27FC236}">
                <a16:creationId xmlns:a16="http://schemas.microsoft.com/office/drawing/2014/main" id="{E59D6719-F19A-7360-50AB-B163854E7109}"/>
              </a:ext>
            </a:extLst>
          </p:cNvPr>
          <p:cNvSpPr txBox="1"/>
          <p:nvPr/>
        </p:nvSpPr>
        <p:spPr>
          <a:xfrm>
            <a:off x="556904" y="4971440"/>
            <a:ext cx="4032448" cy="461665"/>
          </a:xfrm>
          <a:prstGeom prst="rect">
            <a:avLst/>
          </a:prstGeom>
          <a:noFill/>
        </p:spPr>
        <p:txBody>
          <a:bodyPr wrap="square">
            <a:spAutoFit/>
          </a:bodyPr>
          <a:lstStyle>
            <a:defPPr>
              <a:defRPr lang="zh-CN"/>
            </a:defPPr>
            <a:lvl1pPr algn="ctr">
              <a:defRPr sz="2400" b="1">
                <a:ln>
                  <a:solidFill>
                    <a:schemeClr val="accent1">
                      <a:lumMod val="20000"/>
                      <a:lumOff val="80000"/>
                    </a:schemeClr>
                  </a:solidFill>
                </a:ln>
                <a:solidFill>
                  <a:schemeClr val="accent4"/>
                </a:solidFill>
                <a:effectLst>
                  <a:outerShdw blurRad="38100" dist="38100" dir="2700000" algn="tl">
                    <a:srgbClr val="000000">
                      <a:alpha val="43137"/>
                    </a:srgbClr>
                  </a:outerShdw>
                </a:effectLst>
                <a:latin typeface="Copperplate Gothic Bold" panose="020E0705020206020404" pitchFamily="34" charset="0"/>
              </a:defRPr>
            </a:lvl1pPr>
          </a:lstStyle>
          <a:p>
            <a:r>
              <a:rPr lang="en-IN" dirty="0"/>
              <a:t>Future research</a:t>
            </a:r>
          </a:p>
        </p:txBody>
      </p:sp>
      <p:sp>
        <p:nvSpPr>
          <p:cNvPr id="7" name="TextBox 6">
            <a:extLst>
              <a:ext uri="{FF2B5EF4-FFF2-40B4-BE49-F238E27FC236}">
                <a16:creationId xmlns:a16="http://schemas.microsoft.com/office/drawing/2014/main" id="{7F13B935-92DC-4EA9-2C8B-2B85530A4FFC}"/>
              </a:ext>
            </a:extLst>
          </p:cNvPr>
          <p:cNvSpPr txBox="1"/>
          <p:nvPr/>
        </p:nvSpPr>
        <p:spPr>
          <a:xfrm>
            <a:off x="417290" y="5560823"/>
            <a:ext cx="9237693" cy="954107"/>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algn="just"/>
            <a:r>
              <a:rPr lang="en-US" dirty="0"/>
              <a:t>To enhance accuracy and reliability, future research should focus on ensuring the model is robust, generalizable, and interpretable. Evaluating the impact of missing, duplicate, or anomalous data on model performance is crucial. Developing effective strategies to manage these challenges will strengthen the model’s overall effectiveness and decision-making capabilities.</a:t>
            </a:r>
            <a:endParaRPr lang="en-IN" dirty="0"/>
          </a:p>
        </p:txBody>
      </p:sp>
      <p:pic>
        <p:nvPicPr>
          <p:cNvPr id="9" name="Picture 8">
            <a:extLst>
              <a:ext uri="{FF2B5EF4-FFF2-40B4-BE49-F238E27FC236}">
                <a16:creationId xmlns:a16="http://schemas.microsoft.com/office/drawing/2014/main" id="{68961C27-16A5-E259-4B6B-ECFCAF1E06D2}"/>
              </a:ext>
            </a:extLst>
          </p:cNvPr>
          <p:cNvPicPr>
            <a:picLocks noChangeAspect="1"/>
          </p:cNvPicPr>
          <p:nvPr/>
        </p:nvPicPr>
        <p:blipFill>
          <a:blip r:embed="rId2">
            <a:duotone>
              <a:schemeClr val="accent4">
                <a:shade val="45000"/>
                <a:satMod val="135000"/>
              </a:schemeClr>
              <a:prstClr val="white"/>
            </a:duotone>
            <a:alphaModFix amt="85000"/>
            <a:extLst>
              <a:ext uri="{28A0092B-C50C-407E-A947-70E740481C1C}">
                <a14:useLocalDpi xmlns:a14="http://schemas.microsoft.com/office/drawing/2010/main" val="0"/>
              </a:ext>
            </a:extLst>
          </a:blip>
          <a:stretch>
            <a:fillRect/>
          </a:stretch>
        </p:blipFill>
        <p:spPr>
          <a:xfrm>
            <a:off x="417295" y="903056"/>
            <a:ext cx="540000" cy="540000"/>
          </a:xfrm>
          <a:prstGeom prst="rect">
            <a:avLst/>
          </a:prstGeom>
        </p:spPr>
      </p:pic>
      <p:sp>
        <p:nvSpPr>
          <p:cNvPr id="10" name="TextBox 9">
            <a:extLst>
              <a:ext uri="{FF2B5EF4-FFF2-40B4-BE49-F238E27FC236}">
                <a16:creationId xmlns:a16="http://schemas.microsoft.com/office/drawing/2014/main" id="{E51D404B-BBD5-7BAF-9A00-BB8615679084}"/>
              </a:ext>
            </a:extLst>
          </p:cNvPr>
          <p:cNvSpPr txBox="1"/>
          <p:nvPr/>
        </p:nvSpPr>
        <p:spPr>
          <a:xfrm>
            <a:off x="417294" y="1705476"/>
            <a:ext cx="9237693" cy="307777"/>
          </a:xfrm>
          <a:prstGeom prst="rect">
            <a:avLst/>
          </a:prstGeom>
          <a:solidFill>
            <a:schemeClr val="accent4">
              <a:lumMod val="60000"/>
              <a:lumOff val="40000"/>
            </a:schemeClr>
          </a:solidFill>
        </p:spPr>
        <p:txBody>
          <a:bodyPr wrap="square">
            <a:spAutoFit/>
          </a:bodyPr>
          <a:lstStyle>
            <a:defPPr>
              <a:defRPr lang="en-US"/>
            </a:defPPr>
            <a:lvl1pPr>
              <a:defRPr sz="1400" b="1" i="0">
                <a:solidFill>
                  <a:schemeClr val="accent1">
                    <a:lumMod val="50000"/>
                  </a:schemeClr>
                </a:solidFill>
                <a:effectLst>
                  <a:outerShdw blurRad="38100" dist="38100" dir="2700000" algn="tl">
                    <a:srgbClr val="000000">
                      <a:alpha val="43137"/>
                    </a:srgbClr>
                  </a:outerShdw>
                </a:effectLst>
                <a:latin typeface="Tw Cen MT" panose="020B0602020104020603" pitchFamily="34" charset="0"/>
              </a:defRPr>
            </a:lvl1pPr>
          </a:lstStyle>
          <a:p>
            <a:r>
              <a:rPr lang="en-US" b="0" dirty="0">
                <a:solidFill>
                  <a:schemeClr val="tx1"/>
                </a:solidFill>
                <a:latin typeface="Times New Roman" panose="02020603050405020304" pitchFamily="18" charset="0"/>
                <a:cs typeface="Times New Roman" panose="02020603050405020304" pitchFamily="18" charset="0"/>
              </a:rPr>
              <a:t>Logistic Regression model demonstrated the highest accuracy of 97% in predicting breast cancer risk</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49C3A1B-5823-FB4E-D182-D76481E912DB}"/>
              </a:ext>
            </a:extLst>
          </p:cNvPr>
          <p:cNvSpPr txBox="1"/>
          <p:nvPr/>
        </p:nvSpPr>
        <p:spPr>
          <a:xfrm>
            <a:off x="417294" y="2076354"/>
            <a:ext cx="9237693" cy="307777"/>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study utilized a breast cancer dataset and applied multiple machine learning models using Jupyter Notebook.</a:t>
            </a:r>
            <a:endParaRPr lang="en-IN" dirty="0"/>
          </a:p>
        </p:txBody>
      </p:sp>
      <p:sp>
        <p:nvSpPr>
          <p:cNvPr id="12" name="TextBox 11">
            <a:extLst>
              <a:ext uri="{FF2B5EF4-FFF2-40B4-BE49-F238E27FC236}">
                <a16:creationId xmlns:a16="http://schemas.microsoft.com/office/drawing/2014/main" id="{26E609C4-49A4-CD60-F30A-0378294218AE}"/>
              </a:ext>
            </a:extLst>
          </p:cNvPr>
          <p:cNvSpPr txBox="1"/>
          <p:nvPr/>
        </p:nvSpPr>
        <p:spPr>
          <a:xfrm>
            <a:off x="417294" y="2460336"/>
            <a:ext cx="9237693" cy="307777"/>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All models showed strong performance, with accuracy ranging from 80% (KNN) to 97% (Logistic Regression).</a:t>
            </a:r>
            <a:endParaRPr lang="en-IN" dirty="0"/>
          </a:p>
        </p:txBody>
      </p:sp>
      <p:sp>
        <p:nvSpPr>
          <p:cNvPr id="13" name="Title 1">
            <a:extLst>
              <a:ext uri="{FF2B5EF4-FFF2-40B4-BE49-F238E27FC236}">
                <a16:creationId xmlns:a16="http://schemas.microsoft.com/office/drawing/2014/main" id="{5C268E90-567A-4058-D68B-7196BFE53C73}"/>
              </a:ext>
            </a:extLst>
          </p:cNvPr>
          <p:cNvSpPr txBox="1">
            <a:spLocks/>
          </p:cNvSpPr>
          <p:nvPr/>
        </p:nvSpPr>
        <p:spPr>
          <a:xfrm>
            <a:off x="762965" y="158930"/>
            <a:ext cx="10889796" cy="735518"/>
          </a:xfrm>
          <a:prstGeom prst="rect">
            <a:avLst/>
          </a:prstGeom>
        </p:spPr>
        <p:txBody>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pPr algn="ctr"/>
            <a:r>
              <a:rPr lang="en-IN" sz="4000" dirty="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236A137-DE6C-E76F-D1A0-7E107CD68E2D}"/>
              </a:ext>
            </a:extLst>
          </p:cNvPr>
          <p:cNvSpPr txBox="1"/>
          <p:nvPr/>
        </p:nvSpPr>
        <p:spPr>
          <a:xfrm>
            <a:off x="417293" y="3462143"/>
            <a:ext cx="9237693" cy="307777"/>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study is based on a single, small dataset, which may limit its generalizability to broader populations.</a:t>
            </a:r>
            <a:endParaRPr lang="en-IN" dirty="0"/>
          </a:p>
        </p:txBody>
      </p:sp>
      <p:sp>
        <p:nvSpPr>
          <p:cNvPr id="15" name="TextBox 14">
            <a:extLst>
              <a:ext uri="{FF2B5EF4-FFF2-40B4-BE49-F238E27FC236}">
                <a16:creationId xmlns:a16="http://schemas.microsoft.com/office/drawing/2014/main" id="{3D721C68-DCAC-DA4A-7731-35184DEBBCDC}"/>
              </a:ext>
            </a:extLst>
          </p:cNvPr>
          <p:cNvSpPr txBox="1"/>
          <p:nvPr/>
        </p:nvSpPr>
        <p:spPr>
          <a:xfrm>
            <a:off x="417290" y="3856782"/>
            <a:ext cx="9237693" cy="523220"/>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model primarily considers clinical and demographic factors, overlooking key lifestyle and genetic risk contributors to breast cancer.</a:t>
            </a:r>
            <a:endParaRPr lang="en-IN" dirty="0"/>
          </a:p>
        </p:txBody>
      </p:sp>
      <p:sp>
        <p:nvSpPr>
          <p:cNvPr id="16" name="TextBox 15">
            <a:extLst>
              <a:ext uri="{FF2B5EF4-FFF2-40B4-BE49-F238E27FC236}">
                <a16:creationId xmlns:a16="http://schemas.microsoft.com/office/drawing/2014/main" id="{BA805FA7-5129-D97B-315D-D6892F10DE9A}"/>
              </a:ext>
            </a:extLst>
          </p:cNvPr>
          <p:cNvSpPr txBox="1"/>
          <p:nvPr/>
        </p:nvSpPr>
        <p:spPr>
          <a:xfrm>
            <a:off x="417291" y="4473870"/>
            <a:ext cx="9237693" cy="307777"/>
          </a:xfrm>
          <a:prstGeom prst="rect">
            <a:avLst/>
          </a:prstGeom>
          <a:solidFill>
            <a:schemeClr val="accent4">
              <a:lumMod val="60000"/>
              <a:lumOff val="40000"/>
            </a:schemeClr>
          </a:solidFill>
        </p:spPr>
        <p:txBody>
          <a:bodyPr wrap="square">
            <a:spAutoFit/>
          </a:bodyPr>
          <a:lstStyle>
            <a:defPPr>
              <a:defRPr lang="zh-CN"/>
            </a:defPPr>
            <a:lvl1pPr>
              <a:defRPr sz="1400" b="0" i="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en-US" dirty="0"/>
              <a:t>The model needs extensive validation on independent test datasets to ensure real-world applicability. </a:t>
            </a:r>
            <a:endParaRPr lang="en-IN" dirty="0"/>
          </a:p>
        </p:txBody>
      </p:sp>
      <p:pic>
        <p:nvPicPr>
          <p:cNvPr id="19" name="Picture 18">
            <a:extLst>
              <a:ext uri="{FF2B5EF4-FFF2-40B4-BE49-F238E27FC236}">
                <a16:creationId xmlns:a16="http://schemas.microsoft.com/office/drawing/2014/main" id="{11BB632C-E35B-16BD-6D89-82FB36196557}"/>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457509" y="2911888"/>
            <a:ext cx="446856" cy="446856"/>
          </a:xfrm>
          <a:prstGeom prst="rect">
            <a:avLst/>
          </a:prstGeom>
        </p:spPr>
      </p:pic>
      <p:pic>
        <p:nvPicPr>
          <p:cNvPr id="20" name="Picture 19">
            <a:extLst>
              <a:ext uri="{FF2B5EF4-FFF2-40B4-BE49-F238E27FC236}">
                <a16:creationId xmlns:a16="http://schemas.microsoft.com/office/drawing/2014/main" id="{F8F748D7-F555-1EFC-8AEB-41FDDC9706F8}"/>
              </a:ext>
            </a:extLst>
          </p:cNvPr>
          <p:cNvPicPr>
            <a:picLocks noChangeAspect="1"/>
          </p:cNvPicPr>
          <p:nvPr/>
        </p:nvPicPr>
        <p:blipFill>
          <a:blip r:embed="rId4">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528267" y="4967729"/>
            <a:ext cx="461665" cy="461665"/>
          </a:xfrm>
          <a:prstGeom prst="rect">
            <a:avLst/>
          </a:prstGeom>
        </p:spPr>
      </p:pic>
      <p:pic>
        <p:nvPicPr>
          <p:cNvPr id="21" name="Picture 20">
            <a:extLst>
              <a:ext uri="{FF2B5EF4-FFF2-40B4-BE49-F238E27FC236}">
                <a16:creationId xmlns:a16="http://schemas.microsoft.com/office/drawing/2014/main" id="{F1A25FB6-0F59-BB47-EB31-B01C7A7F3C92}"/>
              </a:ext>
            </a:extLst>
          </p:cNvPr>
          <p:cNvPicPr>
            <a:picLocks noChangeAspect="1"/>
          </p:cNvPicPr>
          <p:nvPr/>
        </p:nvPicPr>
        <p:blipFill>
          <a:blip r:embed="rId5"/>
          <a:stretch>
            <a:fillRect/>
          </a:stretch>
        </p:blipFill>
        <p:spPr>
          <a:xfrm>
            <a:off x="10301027" y="6400482"/>
            <a:ext cx="1786283" cy="463336"/>
          </a:xfrm>
          <a:prstGeom prst="rect">
            <a:avLst/>
          </a:prstGeom>
        </p:spPr>
      </p:pic>
    </p:spTree>
    <p:extLst>
      <p:ext uri="{BB962C8B-B14F-4D97-AF65-F5344CB8AC3E}">
        <p14:creationId xmlns:p14="http://schemas.microsoft.com/office/powerpoint/2010/main" val="2191888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2468</TotalTime>
  <Words>1797</Words>
  <Application>Microsoft Office PowerPoint</Application>
  <PresentationFormat>Widescreen</PresentationFormat>
  <Paragraphs>203</Paragraphs>
  <Slides>16</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vt:i4>
      </vt:variant>
    </vt:vector>
  </HeadingPairs>
  <TitlesOfParts>
    <vt:vector size="30" baseType="lpstr">
      <vt:lpstr>等线</vt:lpstr>
      <vt:lpstr>Abadi</vt:lpstr>
      <vt:lpstr>Arial</vt:lpstr>
      <vt:lpstr>Calibri</vt:lpstr>
      <vt:lpstr>Century Gothic</vt:lpstr>
      <vt:lpstr>Copperplate Gothic Bold</vt:lpstr>
      <vt:lpstr>Courier New</vt:lpstr>
      <vt:lpstr>Inter</vt:lpstr>
      <vt:lpstr>Posterama</vt:lpstr>
      <vt:lpstr>Posterama Text Black</vt:lpstr>
      <vt:lpstr>Posterama Text SemiBold</vt:lpstr>
      <vt:lpstr>Times New Roman</vt:lpstr>
      <vt:lpstr>Times New Roman Condensed Bold</vt:lpstr>
      <vt:lpstr>Custom​​</vt:lpstr>
      <vt:lpstr>PowerPoint Presentation</vt:lpstr>
      <vt:lpstr>Breast Cancer Risk prediction </vt:lpstr>
      <vt:lpstr>INDEX</vt:lpstr>
      <vt:lpstr>INTRODUCTION</vt:lpstr>
      <vt:lpstr>PowerPoint Presentation</vt:lpstr>
      <vt:lpstr>DATA PREPROCESSING</vt:lpstr>
      <vt:lpstr>PowerPoint Presentation</vt:lpstr>
      <vt:lpstr>PowerPoint Presentation</vt:lpstr>
      <vt:lpstr>PowerPoint Presentation</vt:lpstr>
      <vt:lpstr>PowerPoint Presentation</vt:lpstr>
      <vt:lpstr>PowerPoint Presentation</vt:lpstr>
      <vt:lpstr>TRAIN – TEST SPLIT</vt:lpstr>
      <vt:lpstr>Model Selection</vt:lpstr>
      <vt:lpstr>Model Evaluation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 – COMMERCE  (ONLINE SHOPPING)</dc:title>
  <dc:creator>Nitin R</dc:creator>
  <cp:lastModifiedBy>Nitin R</cp:lastModifiedBy>
  <cp:revision>9</cp:revision>
  <dcterms:created xsi:type="dcterms:W3CDTF">2024-03-08T15:22:20Z</dcterms:created>
  <dcterms:modified xsi:type="dcterms:W3CDTF">2025-02-01T15:08:09Z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